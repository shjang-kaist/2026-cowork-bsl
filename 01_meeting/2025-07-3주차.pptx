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929" r:id="rId2"/>
    <p:sldId id="2930" r:id="rId3"/>
    <p:sldId id="2970" r:id="rId4"/>
    <p:sldId id="2933" r:id="rId5"/>
    <p:sldId id="2969" r:id="rId6"/>
    <p:sldId id="2968" r:id="rId7"/>
    <p:sldId id="2967" r:id="rId8"/>
    <p:sldId id="2971" r:id="rId9"/>
    <p:sldId id="2972" r:id="rId10"/>
    <p:sldId id="2973" r:id="rId11"/>
    <p:sldId id="2974" r:id="rId12"/>
    <p:sldId id="2975" r:id="rId13"/>
    <p:sldId id="2976" r:id="rId14"/>
    <p:sldId id="2978" r:id="rId15"/>
    <p:sldId id="2979" r:id="rId16"/>
    <p:sldId id="2980" r:id="rId17"/>
    <p:sldId id="2981" r:id="rId18"/>
    <p:sldId id="2982" r:id="rId19"/>
    <p:sldId id="2983" r:id="rId20"/>
    <p:sldId id="2984" r:id="rId21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11CBA-3F2A-1399-FFF7-ABF99BDB0604}" name="Seunghun Jang" initials="SJ" userId="3fc171b04cfc4c4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C1C1C1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15" autoAdjust="0"/>
  </p:normalViewPr>
  <p:slideViewPr>
    <p:cSldViewPr snapToGrid="0">
      <p:cViewPr varScale="1">
        <p:scale>
          <a:sx n="104" d="100"/>
          <a:sy n="104" d="100"/>
        </p:scale>
        <p:origin x="144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anumBarunGothic" panose="020B0603020101020101" pitchFamily="34" charset="-127"/>
              </a:defRPr>
            </a:lvl1pPr>
          </a:lstStyle>
          <a:p>
            <a:fld id="{2C139193-1395-414A-BA2C-F3819417EE00}" type="datetimeFigureOut">
              <a:rPr lang="en-KR" smtClean="0"/>
              <a:pPr/>
              <a:t>07/17/2025</a:t>
            </a:fld>
            <a:endParaRPr lang="en-K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anumBarunGothic" panose="020B0603020101020101" pitchFamily="34" charset="-127"/>
              </a:defRPr>
            </a:lvl1pPr>
          </a:lstStyle>
          <a:p>
            <a:fld id="{2AC991DE-395F-A84E-B09A-BE67D13F61E4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61254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b="0" dirty="0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6068A-C293-4585-A9A4-94D713860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20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39A8B74-48F0-B9D0-5C57-2C0E54B58F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8937" y="1353600"/>
            <a:ext cx="5891213" cy="609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Subtitle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3DFCBDE0-E7B2-AF13-891A-40DDE63833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8646" y="1882800"/>
            <a:ext cx="7795934" cy="119606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36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20000"/>
              </a:lnSpc>
            </a:pPr>
            <a:r>
              <a:rPr lang="en-US" altLang="ko-KR" sz="3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Title</a:t>
            </a:r>
            <a:endParaRPr lang="ko-KR" altLang="en-US" sz="4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1" name="Text Placeholder 48">
            <a:extLst>
              <a:ext uri="{FF2B5EF4-FFF2-40B4-BE49-F238E27FC236}">
                <a16:creationId xmlns:a16="http://schemas.microsoft.com/office/drawing/2014/main" id="{1BB0C16F-8DAE-CCAE-2966-D27480CA73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4400" y="3103200"/>
            <a:ext cx="6044400" cy="2131200"/>
          </a:xfrm>
        </p:spPr>
        <p:txBody>
          <a:bodyPr anchor="t" anchorCtr="0">
            <a:spAutoFit/>
          </a:bodyPr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20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50000"/>
              </a:lnSpc>
            </a:pPr>
            <a:r>
              <a:rPr lang="en-US" altLang="ko-KR" sz="2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Name</a:t>
            </a:r>
            <a:endParaRPr lang="en-US" altLang="ko-KR" sz="2000" b="1" baseline="30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Ph.D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student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조천식모빌리티대학원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KAIST</a:t>
            </a:r>
          </a:p>
          <a:p>
            <a:pPr algn="ctr">
              <a:lnSpc>
                <a:spcPct val="150000"/>
              </a:lnSpc>
            </a:pP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 0x. 0x. (x)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E15268-C4FF-FFCD-B81B-195E432417DA}"/>
              </a:ext>
            </a:extLst>
          </p:cNvPr>
          <p:cNvGrpSpPr/>
          <p:nvPr userDrawn="1"/>
        </p:nvGrpSpPr>
        <p:grpSpPr>
          <a:xfrm>
            <a:off x="4246850" y="5700249"/>
            <a:ext cx="3679525" cy="665106"/>
            <a:chOff x="5797756" y="5807704"/>
            <a:chExt cx="3679525" cy="665106"/>
          </a:xfrm>
        </p:grpSpPr>
        <p:pic>
          <p:nvPicPr>
            <p:cNvPr id="2" name="Picture 1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3969C60D-9E77-264C-6228-2935F9CC1C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b="18889"/>
            <a:stretch>
              <a:fillRect/>
            </a:stretch>
          </p:blipFill>
          <p:spPr>
            <a:xfrm>
              <a:off x="8014200" y="5980305"/>
              <a:ext cx="1463081" cy="421836"/>
            </a:xfrm>
            <a:prstGeom prst="rect">
              <a:avLst/>
            </a:prstGeom>
          </p:spPr>
        </p:pic>
        <p:pic>
          <p:nvPicPr>
            <p:cNvPr id="18" name="그림 2" descr="텍스트, 폰트, 그래픽, 로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5C65619-7AE8-C127-8F57-CD80925DB5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372"/>
            <a:stretch/>
          </p:blipFill>
          <p:spPr>
            <a:xfrm>
              <a:off x="5797756" y="5807704"/>
              <a:ext cx="2368952" cy="665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240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6">
            <a:extLst>
              <a:ext uri="{FF2B5EF4-FFF2-40B4-BE49-F238E27FC236}">
                <a16:creationId xmlns:a16="http://schemas.microsoft.com/office/drawing/2014/main" id="{B14AA50B-80C6-1BF7-1314-13B2CA9ACE08}"/>
              </a:ext>
            </a:extLst>
          </p:cNvPr>
          <p:cNvSpPr/>
          <p:nvPr userDrawn="1"/>
        </p:nvSpPr>
        <p:spPr>
          <a:xfrm>
            <a:off x="0" y="0"/>
            <a:ext cx="193675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0" i="0" spc="-12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DDFC7A2-D64C-F8A6-F0ED-8AB43272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6625" y="0"/>
            <a:ext cx="9985375" cy="6858000"/>
          </a:xfrm>
        </p:spPr>
        <p:txBody>
          <a:bodyPr anchor="ctr">
            <a:normAutofit/>
          </a:bodyPr>
          <a:lstStyle>
            <a:lvl1pPr marL="514350" indent="-514350">
              <a:lnSpc>
                <a:spcPct val="150000"/>
              </a:lnSpc>
              <a:buSzPct val="140000"/>
              <a:buFont typeface="+mj-lt"/>
              <a:buAutoNum type="arabicPeriod"/>
              <a:defRPr sz="2800"/>
            </a:lvl1pPr>
            <a:lvl2pPr marL="914400" indent="-457200">
              <a:buSzPct val="140000"/>
              <a:buFont typeface="+mj-lt"/>
              <a:buAutoNum type="arabicPeriod"/>
              <a:defRPr/>
            </a:lvl2pPr>
            <a:lvl3pPr marL="1371600" indent="-457200">
              <a:buSzPct val="140000"/>
              <a:buFont typeface="+mj-lt"/>
              <a:buAutoNum type="arabicPeriod"/>
              <a:defRPr/>
            </a:lvl3pPr>
            <a:lvl4pPr marL="1714500" indent="-342900">
              <a:buSzPct val="140000"/>
              <a:buFont typeface="+mj-lt"/>
              <a:buAutoNum type="arabicPeriod"/>
              <a:defRPr/>
            </a:lvl4pPr>
            <a:lvl5pPr marL="2171700" indent="-342900">
              <a:buSzPct val="14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DE679A-271B-455A-63D3-04DD2E19437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423" y="2566987"/>
            <a:ext cx="1787904" cy="1724025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</a:lstStyle>
          <a:p>
            <a:pPr lvl="0"/>
            <a:r>
              <a:rPr lang="en-US" dirty="0"/>
              <a:t>Contents</a:t>
            </a:r>
          </a:p>
          <a:p>
            <a:pPr lvl="0"/>
            <a:r>
              <a:rPr lang="en-US" dirty="0"/>
              <a:t>or</a:t>
            </a:r>
          </a:p>
          <a:p>
            <a:pPr lvl="0"/>
            <a:r>
              <a:rPr lang="ko-KR" altLang="en-US" dirty="0"/>
              <a:t>목차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94186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5FDC554-BE26-62CD-607B-8AB978076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9931" y="1877218"/>
            <a:ext cx="8212138" cy="3103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0"/>
            </a:lvl1pPr>
          </a:lstStyle>
          <a:p>
            <a:pPr lvl="0"/>
            <a:r>
              <a:rPr lang="en-US" altLang="ko-KR" dirty="0"/>
              <a:t>#.</a:t>
            </a:r>
            <a:r>
              <a:rPr lang="ko-KR" altLang="en-US" dirty="0"/>
              <a:t> </a:t>
            </a:r>
            <a:r>
              <a:rPr lang="en-US" altLang="ko-KR" dirty="0"/>
              <a:t>Section Title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37687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D12D3B3-4EC7-7A3F-1B0B-76C9449702E3}"/>
              </a:ext>
            </a:extLst>
          </p:cNvPr>
          <p:cNvCxnSpPr/>
          <p:nvPr userDrawn="1"/>
        </p:nvCxnSpPr>
        <p:spPr>
          <a:xfrm flipV="1">
            <a:off x="326773" y="6311901"/>
            <a:ext cx="11154769" cy="1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AAC480-1A69-7832-3807-1529AF151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1099648"/>
            <a:ext cx="11318875" cy="5189744"/>
          </a:xfrm>
        </p:spPr>
        <p:txBody>
          <a:bodyPr/>
          <a:lstStyle>
            <a:lvl1pPr>
              <a:lnSpc>
                <a:spcPct val="120000"/>
              </a:lnSpc>
              <a:defRPr sz="18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16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67316644-13C7-6991-644A-048613BCB1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990" y="6289392"/>
            <a:ext cx="11318875" cy="5686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7084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AAC480-1A69-7832-3807-1529AF151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1099648"/>
            <a:ext cx="11318875" cy="5189744"/>
          </a:xfrm>
        </p:spPr>
        <p:txBody>
          <a:bodyPr/>
          <a:lstStyle>
            <a:lvl1pPr>
              <a:lnSpc>
                <a:spcPct val="120000"/>
              </a:lnSpc>
              <a:defRPr sz="18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16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BB33A73C-7E47-2063-8C68-C6C55704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738" y="6262716"/>
            <a:ext cx="11319128" cy="595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338482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D12D3B3-4EC7-7A3F-1B0B-76C9449702E3}"/>
              </a:ext>
            </a:extLst>
          </p:cNvPr>
          <p:cNvCxnSpPr/>
          <p:nvPr userDrawn="1"/>
        </p:nvCxnSpPr>
        <p:spPr>
          <a:xfrm flipV="1">
            <a:off x="326773" y="6311901"/>
            <a:ext cx="11154769" cy="1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FA6715D7-11FA-F29F-1CCE-1788976DAC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1323" y="1560300"/>
            <a:ext cx="5433698" cy="4724009"/>
          </a:xfrm>
        </p:spPr>
        <p:txBody>
          <a:bodyPr/>
          <a:lstStyle>
            <a:lvl1pPr>
              <a:lnSpc>
                <a:spcPct val="120000"/>
              </a:lnSpc>
              <a:defRPr sz="1800" b="0"/>
            </a:lvl1pPr>
            <a:lvl2pPr>
              <a:lnSpc>
                <a:spcPct val="120000"/>
              </a:lnSpc>
              <a:defRPr sz="1600" b="0"/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5D30FBEE-5BB6-1888-DA11-48946890A5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1071" y="1131577"/>
            <a:ext cx="5433698" cy="401132"/>
          </a:xfrm>
        </p:spPr>
        <p:txBody>
          <a:bodyPr>
            <a:normAutofit/>
          </a:bodyPr>
          <a:lstStyle>
            <a:lvl1pPr marL="0" indent="0" algn="ctr">
              <a:buNone/>
              <a:defRPr sz="2200" b="0"/>
            </a:lvl1pPr>
            <a:lvl2pPr>
              <a:defRPr sz="1600"/>
            </a:lvl2pPr>
            <a:lvl3pPr marL="914400" indent="0" algn="ctr">
              <a:buFont typeface="Arial" panose="020B0604020202020204" pitchFamily="34" charset="0"/>
              <a:buNone/>
              <a:defRPr sz="2000"/>
            </a:lvl3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B55BD7AA-A368-0844-3CC4-873702DFC5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252" y="1560300"/>
            <a:ext cx="5433698" cy="4724009"/>
          </a:xfrm>
        </p:spPr>
        <p:txBody>
          <a:bodyPr/>
          <a:lstStyle>
            <a:lvl1pPr>
              <a:lnSpc>
                <a:spcPct val="120000"/>
              </a:lnSpc>
              <a:defRPr sz="1800" b="0"/>
            </a:lvl1pPr>
            <a:lvl2pPr>
              <a:lnSpc>
                <a:spcPct val="120000"/>
              </a:lnSpc>
              <a:defRPr sz="1600" b="0"/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BB1CEFEF-172D-5C45-859F-BAF79B888C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1131577"/>
            <a:ext cx="5433698" cy="401132"/>
          </a:xfrm>
        </p:spPr>
        <p:txBody>
          <a:bodyPr>
            <a:normAutofit/>
          </a:bodyPr>
          <a:lstStyle>
            <a:lvl1pPr marL="0" indent="0" algn="ctr">
              <a:buNone/>
              <a:defRPr sz="2200" b="0"/>
            </a:lvl1pPr>
            <a:lvl2pPr>
              <a:defRPr sz="1600"/>
            </a:lvl2pPr>
            <a:lvl3pPr marL="914400" indent="0" algn="ctr">
              <a:buFont typeface="Arial" panose="020B0604020202020204" pitchFamily="34" charset="0"/>
              <a:buNone/>
              <a:defRPr sz="2000"/>
            </a:lvl3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7C40926D-5D72-76E0-E11C-44EF2A188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738" y="6262716"/>
            <a:ext cx="11319128" cy="595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227931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>
            <a:extLst>
              <a:ext uri="{FF2B5EF4-FFF2-40B4-BE49-F238E27FC236}">
                <a16:creationId xmlns:a16="http://schemas.microsoft.com/office/drawing/2014/main" id="{FD46EE62-3A8C-A371-14E4-769EC8ADC8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04" y="1661160"/>
            <a:ext cx="3001792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1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A9976-E955-F60A-33D9-C13140AD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A1015-DAD9-639A-5742-79C01620B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36103-2E0B-AE43-2516-4D290BC5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fld id="{C57D0951-C5F5-354B-A57A-D2E03E77954A}" type="datetime1">
              <a:rPr lang="en-US" smtClean="0"/>
              <a:pPr/>
              <a:t>7/17/2025</a:t>
            </a:fld>
            <a:endParaRPr lang="en-K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111DE-7215-183E-0210-5137AAEC9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5BF8A-A629-41F6-99DE-34F9D4D2C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482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4" r:id="rId6"/>
    <p:sldLayoutId id="2147483652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NanumBarunGothic" panose="020B0603020101020101" pitchFamily="34" charset="-12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587BA604-1151-4261-A75E-BCF05676E13F}"/>
              </a:ext>
            </a:extLst>
          </p:cNvPr>
          <p:cNvSpPr txBox="1"/>
          <p:nvPr/>
        </p:nvSpPr>
        <p:spPr>
          <a:xfrm>
            <a:off x="0" y="1868071"/>
            <a:ext cx="12192000" cy="758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4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Literature Review</a:t>
            </a:r>
            <a:endParaRPr lang="ko-KR" altLang="en-US" sz="4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CBE14-9C1B-46F4-8A7E-9F9AC765F183}"/>
              </a:ext>
            </a:extLst>
          </p:cNvPr>
          <p:cNvSpPr txBox="1"/>
          <p:nvPr/>
        </p:nvSpPr>
        <p:spPr>
          <a:xfrm>
            <a:off x="1677520" y="1352346"/>
            <a:ext cx="8836959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주차 미팅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ACE3C4F1-A228-4DDD-9A7D-83A8E2C3DDD3}"/>
              </a:ext>
            </a:extLst>
          </p:cNvPr>
          <p:cNvSpPr txBox="1"/>
          <p:nvPr/>
        </p:nvSpPr>
        <p:spPr>
          <a:xfrm>
            <a:off x="3074304" y="3102296"/>
            <a:ext cx="6044400" cy="213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2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장승훈</a:t>
            </a:r>
            <a:endParaRPr lang="en-US" altLang="ko-KR" sz="2000" b="1" baseline="30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박사과정</a:t>
            </a:r>
            <a:endParaRPr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조천식모빌리티대학원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KAIST</a:t>
            </a:r>
          </a:p>
          <a:p>
            <a:pPr algn="ctr">
              <a:lnSpc>
                <a:spcPct val="150000"/>
              </a:lnSpc>
            </a:pP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 7. 17. (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8B3E05-51AE-49D6-A7E8-B17766087A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72"/>
          <a:stretch/>
        </p:blipFill>
        <p:spPr>
          <a:xfrm>
            <a:off x="3936088" y="5844552"/>
            <a:ext cx="2368952" cy="6651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97C53D3-BB19-47C7-A6EA-96A2D30782E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87"/>
          <a:stretch/>
        </p:blipFill>
        <p:spPr>
          <a:xfrm>
            <a:off x="6234730" y="6029564"/>
            <a:ext cx="1458029" cy="43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8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079543-DAA7-8106-215D-ECD0799D7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Two-level optimization strategy for vehicle speed and battery thermal management in connected and automated </a:t>
            </a:r>
            <a:r>
              <a:rPr lang="en-US" altLang="ko-KR" sz="2000" dirty="0" err="1"/>
              <a:t>Evs</a:t>
            </a:r>
            <a:endParaRPr lang="en-US" altLang="ko-KR" sz="2000" dirty="0"/>
          </a:p>
          <a:p>
            <a:r>
              <a:rPr lang="en-US" altLang="ko-KR" sz="2000" dirty="0"/>
              <a:t>Electric Vehicle Battery Thermal and Cabin Climate Management Based on Model Predictive Control</a:t>
            </a:r>
          </a:p>
          <a:p>
            <a:pPr marL="0" indent="0">
              <a:buNone/>
            </a:pPr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C1122E-1656-4BB1-F4F4-B7A104AE7A6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18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 Contributions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Two-level Optimization Framework</a:t>
            </a:r>
          </a:p>
          <a:p>
            <a:pPr lvl="1"/>
            <a:r>
              <a:rPr lang="en-US" altLang="ko-KR" dirty="0"/>
              <a:t>Target: </a:t>
            </a:r>
            <a:r>
              <a:rPr lang="ko-KR" altLang="en-US" dirty="0"/>
              <a:t>에너지 효율 및 배터리 온도 유지를 위한 </a:t>
            </a:r>
            <a:r>
              <a:rPr lang="ko-KR" altLang="en-US" b="1" dirty="0"/>
              <a:t>차량 속도</a:t>
            </a:r>
            <a:r>
              <a:rPr lang="en-US" altLang="ko-KR" b="1" dirty="0"/>
              <a:t>, BTM</a:t>
            </a:r>
            <a:r>
              <a:rPr lang="en-US" altLang="ko-KR" dirty="0"/>
              <a:t> (battery thermal management) </a:t>
            </a:r>
            <a:r>
              <a:rPr lang="ko-KR" altLang="en-US" dirty="0"/>
              <a:t>최적화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3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89F52F-7D4F-9C3E-94AA-1556343D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17" y="2191888"/>
            <a:ext cx="7108032" cy="32172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78C847-DE86-39D1-B364-F63E8DE2D463}"/>
              </a:ext>
            </a:extLst>
          </p:cNvPr>
          <p:cNvSpPr txBox="1"/>
          <p:nvPr/>
        </p:nvSpPr>
        <p:spPr>
          <a:xfrm>
            <a:off x="292677" y="3549067"/>
            <a:ext cx="2141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1. Upper layer </a:t>
            </a:r>
          </a:p>
          <a:p>
            <a:pPr algn="ctr"/>
            <a:r>
              <a:rPr lang="en-US" altLang="ko-KR" sz="1200" b="1" dirty="0"/>
              <a:t>Iterative dynamic programming</a:t>
            </a:r>
          </a:p>
          <a:p>
            <a:pPr algn="ctr"/>
            <a:r>
              <a:rPr lang="en-US" altLang="ko-KR" sz="1200" b="1" dirty="0"/>
              <a:t>(IDP) </a:t>
            </a:r>
          </a:p>
          <a:p>
            <a:pPr algn="ctr"/>
            <a:r>
              <a:rPr lang="en-US" altLang="ko-KR" sz="1200" b="1" dirty="0"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ym typeface="Wingdings" panose="05000000000000000000" pitchFamily="2" charset="2"/>
              </a:rPr>
              <a:t>속도</a:t>
            </a:r>
            <a:r>
              <a:rPr lang="en-US" altLang="ko-KR" sz="1200" b="1" dirty="0">
                <a:sym typeface="Wingdings" panose="05000000000000000000" pitchFamily="2" charset="2"/>
              </a:rPr>
              <a:t>, </a:t>
            </a:r>
            <a:r>
              <a:rPr lang="ko-KR" altLang="en-US" sz="1200" b="1" dirty="0">
                <a:sym typeface="Wingdings" panose="05000000000000000000" pitchFamily="2" charset="2"/>
              </a:rPr>
              <a:t>온도 지령 </a:t>
            </a:r>
            <a:endParaRPr lang="en-US" altLang="ko-KR" sz="12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6E1504-0794-E44C-118C-45FB08BDCBE7}"/>
              </a:ext>
            </a:extLst>
          </p:cNvPr>
          <p:cNvSpPr/>
          <p:nvPr/>
        </p:nvSpPr>
        <p:spPr>
          <a:xfrm>
            <a:off x="4870336" y="2846692"/>
            <a:ext cx="317855" cy="1912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E0DD63C-4C8F-234F-4317-A2DD26F777EA}"/>
              </a:ext>
            </a:extLst>
          </p:cNvPr>
          <p:cNvCxnSpPr>
            <a:cxnSpLocks/>
          </p:cNvCxnSpPr>
          <p:nvPr/>
        </p:nvCxnSpPr>
        <p:spPr>
          <a:xfrm>
            <a:off x="2463069" y="4160328"/>
            <a:ext cx="2407267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8442296-C347-291E-236D-6D5382F6ED01}"/>
              </a:ext>
            </a:extLst>
          </p:cNvPr>
          <p:cNvSpPr txBox="1"/>
          <p:nvPr/>
        </p:nvSpPr>
        <p:spPr>
          <a:xfrm>
            <a:off x="3709846" y="1936649"/>
            <a:ext cx="783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First level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31CDA0-693C-B921-7AE7-08055A0626C5}"/>
              </a:ext>
            </a:extLst>
          </p:cNvPr>
          <p:cNvSpPr txBox="1"/>
          <p:nvPr/>
        </p:nvSpPr>
        <p:spPr>
          <a:xfrm>
            <a:off x="6096000" y="1929211"/>
            <a:ext cx="980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833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 Contributions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Two-level Optimization Framework</a:t>
            </a:r>
          </a:p>
          <a:p>
            <a:pPr lvl="1"/>
            <a:r>
              <a:rPr lang="en-US" altLang="ko-KR" dirty="0"/>
              <a:t>Target: </a:t>
            </a:r>
            <a:r>
              <a:rPr lang="ko-KR" altLang="en-US" dirty="0"/>
              <a:t>에너지 효율 및 배터리 온도 유지를 위한 </a:t>
            </a:r>
            <a:r>
              <a:rPr lang="ko-KR" altLang="en-US" b="1" dirty="0"/>
              <a:t>차량 속도</a:t>
            </a:r>
            <a:r>
              <a:rPr lang="en-US" altLang="ko-KR" b="1" dirty="0"/>
              <a:t>, BTM</a:t>
            </a:r>
            <a:r>
              <a:rPr lang="en-US" altLang="ko-KR" dirty="0"/>
              <a:t> (battery thermal management) </a:t>
            </a:r>
            <a:r>
              <a:rPr lang="ko-KR" altLang="en-US" dirty="0"/>
              <a:t>최적화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4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89F52F-7D4F-9C3E-94AA-1556343D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17" y="2191888"/>
            <a:ext cx="7108032" cy="32172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78C847-DE86-39D1-B364-F63E8DE2D463}"/>
              </a:ext>
            </a:extLst>
          </p:cNvPr>
          <p:cNvSpPr txBox="1"/>
          <p:nvPr/>
        </p:nvSpPr>
        <p:spPr>
          <a:xfrm>
            <a:off x="292677" y="3549067"/>
            <a:ext cx="2141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1. Upper layer </a:t>
            </a:r>
          </a:p>
          <a:p>
            <a:pPr algn="ctr"/>
            <a:r>
              <a:rPr lang="en-US" altLang="ko-KR" sz="1200" b="1" dirty="0"/>
              <a:t>Iterative dynamic programming</a:t>
            </a:r>
          </a:p>
          <a:p>
            <a:pPr algn="ctr"/>
            <a:r>
              <a:rPr lang="en-US" altLang="ko-KR" sz="1200" b="1" dirty="0"/>
              <a:t>(IDP) </a:t>
            </a:r>
          </a:p>
          <a:p>
            <a:pPr algn="ctr"/>
            <a:r>
              <a:rPr lang="en-US" altLang="ko-KR" sz="1200" b="1" dirty="0"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ym typeface="Wingdings" panose="05000000000000000000" pitchFamily="2" charset="2"/>
              </a:rPr>
              <a:t>속도</a:t>
            </a:r>
            <a:r>
              <a:rPr lang="en-US" altLang="ko-KR" sz="1200" b="1" dirty="0">
                <a:sym typeface="Wingdings" panose="05000000000000000000" pitchFamily="2" charset="2"/>
              </a:rPr>
              <a:t>, </a:t>
            </a:r>
            <a:r>
              <a:rPr lang="ko-KR" altLang="en-US" sz="1200" b="1" dirty="0">
                <a:sym typeface="Wingdings" panose="05000000000000000000" pitchFamily="2" charset="2"/>
              </a:rPr>
              <a:t>온도 지령 </a:t>
            </a:r>
            <a:endParaRPr lang="en-US" altLang="ko-KR" sz="12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6E1504-0794-E44C-118C-45FB08BDCBE7}"/>
              </a:ext>
            </a:extLst>
          </p:cNvPr>
          <p:cNvSpPr/>
          <p:nvPr/>
        </p:nvSpPr>
        <p:spPr>
          <a:xfrm>
            <a:off x="4870336" y="2846692"/>
            <a:ext cx="317855" cy="1912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E0DD63C-4C8F-234F-4317-A2DD26F777EA}"/>
              </a:ext>
            </a:extLst>
          </p:cNvPr>
          <p:cNvCxnSpPr>
            <a:cxnSpLocks/>
          </p:cNvCxnSpPr>
          <p:nvPr/>
        </p:nvCxnSpPr>
        <p:spPr>
          <a:xfrm>
            <a:off x="2463069" y="4160328"/>
            <a:ext cx="2407267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8442296-C347-291E-236D-6D5382F6ED01}"/>
              </a:ext>
            </a:extLst>
          </p:cNvPr>
          <p:cNvSpPr txBox="1"/>
          <p:nvPr/>
        </p:nvSpPr>
        <p:spPr>
          <a:xfrm>
            <a:off x="3709846" y="1936649"/>
            <a:ext cx="783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First level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31CDA0-693C-B921-7AE7-08055A0626C5}"/>
              </a:ext>
            </a:extLst>
          </p:cNvPr>
          <p:cNvSpPr txBox="1"/>
          <p:nvPr/>
        </p:nvSpPr>
        <p:spPr>
          <a:xfrm>
            <a:off x="6096000" y="1929211"/>
            <a:ext cx="980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Second level</a:t>
            </a:r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4926FCA-A669-14CE-820A-B753500CDBB5}"/>
              </a:ext>
            </a:extLst>
          </p:cNvPr>
          <p:cNvSpPr/>
          <p:nvPr/>
        </p:nvSpPr>
        <p:spPr>
          <a:xfrm>
            <a:off x="6531429" y="2418847"/>
            <a:ext cx="3796937" cy="1325839"/>
          </a:xfrm>
          <a:custGeom>
            <a:avLst/>
            <a:gdLst>
              <a:gd name="connsiteX0" fmla="*/ 0 w 3796937"/>
              <a:gd name="connsiteY0" fmla="*/ 1325839 h 1325839"/>
              <a:gd name="connsiteX1" fmla="*/ 3239588 w 3796937"/>
              <a:gd name="connsiteY1" fmla="*/ 10844 h 1325839"/>
              <a:gd name="connsiteX2" fmla="*/ 3796937 w 3796937"/>
              <a:gd name="connsiteY2" fmla="*/ 707530 h 132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6937" h="1325839">
                <a:moveTo>
                  <a:pt x="0" y="1325839"/>
                </a:moveTo>
                <a:cubicBezTo>
                  <a:pt x="1303382" y="719867"/>
                  <a:pt x="2606765" y="113895"/>
                  <a:pt x="3239588" y="10844"/>
                </a:cubicBezTo>
                <a:cubicBezTo>
                  <a:pt x="3872411" y="-92207"/>
                  <a:pt x="3688080" y="569644"/>
                  <a:pt x="3796937" y="707530"/>
                </a:cubicBezTo>
              </a:path>
            </a:pathLst>
          </a:cu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8DBC4B-BAF8-069F-6BD8-218E368946AF}"/>
              </a:ext>
            </a:extLst>
          </p:cNvPr>
          <p:cNvSpPr txBox="1"/>
          <p:nvPr/>
        </p:nvSpPr>
        <p:spPr>
          <a:xfrm>
            <a:off x="9323152" y="3251320"/>
            <a:ext cx="265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Gaussian process (GP) </a:t>
            </a:r>
            <a:r>
              <a:rPr lang="ko-KR" altLang="en-US" sz="1200" b="1" dirty="0"/>
              <a:t>모델을 </a:t>
            </a:r>
            <a:r>
              <a:rPr lang="en-US" altLang="ko-KR" sz="1200" dirty="0"/>
              <a:t>MPC</a:t>
            </a:r>
            <a:r>
              <a:rPr lang="ko-KR" altLang="en-US" sz="1200" dirty="0"/>
              <a:t>에 적용하여 학습기반의 </a:t>
            </a:r>
            <a:r>
              <a:rPr lang="en-US" altLang="ko-KR" sz="1200" dirty="0"/>
              <a:t>MPC</a:t>
            </a:r>
            <a:r>
              <a:rPr lang="ko-KR" altLang="en-US" sz="1200" dirty="0"/>
              <a:t>로 </a:t>
            </a:r>
            <a:r>
              <a:rPr lang="en-US" altLang="ko-KR" sz="1200" dirty="0"/>
              <a:t>REALTIME implementation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CF29D6-42D0-5797-B275-4B09DA7DE4C6}"/>
              </a:ext>
            </a:extLst>
          </p:cNvPr>
          <p:cNvSpPr txBox="1"/>
          <p:nvPr/>
        </p:nvSpPr>
        <p:spPr>
          <a:xfrm>
            <a:off x="9253632" y="3883329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LMPC </a:t>
            </a:r>
            <a:r>
              <a:rPr lang="en-US" altLang="ko-KR" sz="1200" dirty="0">
                <a:sym typeface="Wingdings" panose="05000000000000000000" pitchFamily="2" charset="2"/>
              </a:rPr>
              <a:t> learning-based MPC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022602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 Contributions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Two-level Optimization Framework</a:t>
            </a:r>
          </a:p>
          <a:p>
            <a:pPr lvl="1"/>
            <a:r>
              <a:rPr lang="en-US" altLang="ko-KR" dirty="0"/>
              <a:t>Target: </a:t>
            </a:r>
            <a:r>
              <a:rPr lang="ko-KR" altLang="en-US" dirty="0"/>
              <a:t>에너지 효율 및 배터리 온도 유지를 위한 </a:t>
            </a:r>
            <a:r>
              <a:rPr lang="ko-KR" altLang="en-US" b="1" dirty="0"/>
              <a:t>차량 속도</a:t>
            </a:r>
            <a:r>
              <a:rPr lang="en-US" altLang="ko-KR" b="1" dirty="0"/>
              <a:t>, BTM</a:t>
            </a:r>
            <a:r>
              <a:rPr lang="en-US" altLang="ko-KR" dirty="0"/>
              <a:t> (battery thermal management) </a:t>
            </a:r>
            <a:r>
              <a:rPr lang="ko-KR" altLang="en-US" dirty="0"/>
              <a:t>최적화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5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89F52F-7D4F-9C3E-94AA-1556343D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17" y="2191888"/>
            <a:ext cx="7108032" cy="32172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78C847-DE86-39D1-B364-F63E8DE2D463}"/>
              </a:ext>
            </a:extLst>
          </p:cNvPr>
          <p:cNvSpPr txBox="1"/>
          <p:nvPr/>
        </p:nvSpPr>
        <p:spPr>
          <a:xfrm>
            <a:off x="292677" y="3549067"/>
            <a:ext cx="2141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1. Upper layer </a:t>
            </a:r>
          </a:p>
          <a:p>
            <a:pPr algn="ctr"/>
            <a:r>
              <a:rPr lang="en-US" altLang="ko-KR" sz="1200" b="1" dirty="0"/>
              <a:t>Iterative dynamic programming</a:t>
            </a:r>
          </a:p>
          <a:p>
            <a:pPr algn="ctr"/>
            <a:r>
              <a:rPr lang="en-US" altLang="ko-KR" sz="1200" b="1" dirty="0"/>
              <a:t>(IDP) </a:t>
            </a:r>
          </a:p>
          <a:p>
            <a:pPr algn="ctr"/>
            <a:r>
              <a:rPr lang="en-US" altLang="ko-KR" sz="1200" b="1" dirty="0"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ym typeface="Wingdings" panose="05000000000000000000" pitchFamily="2" charset="2"/>
              </a:rPr>
              <a:t>속도</a:t>
            </a:r>
            <a:r>
              <a:rPr lang="en-US" altLang="ko-KR" sz="1200" b="1" dirty="0">
                <a:sym typeface="Wingdings" panose="05000000000000000000" pitchFamily="2" charset="2"/>
              </a:rPr>
              <a:t>, </a:t>
            </a:r>
            <a:r>
              <a:rPr lang="ko-KR" altLang="en-US" sz="1200" b="1" dirty="0">
                <a:sym typeface="Wingdings" panose="05000000000000000000" pitchFamily="2" charset="2"/>
              </a:rPr>
              <a:t>온도 지령 </a:t>
            </a:r>
            <a:endParaRPr lang="en-US" altLang="ko-KR" sz="12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6E1504-0794-E44C-118C-45FB08BDCBE7}"/>
              </a:ext>
            </a:extLst>
          </p:cNvPr>
          <p:cNvSpPr/>
          <p:nvPr/>
        </p:nvSpPr>
        <p:spPr>
          <a:xfrm>
            <a:off x="4870336" y="2846692"/>
            <a:ext cx="317855" cy="1912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E0DD63C-4C8F-234F-4317-A2DD26F777EA}"/>
              </a:ext>
            </a:extLst>
          </p:cNvPr>
          <p:cNvCxnSpPr>
            <a:cxnSpLocks/>
          </p:cNvCxnSpPr>
          <p:nvPr/>
        </p:nvCxnSpPr>
        <p:spPr>
          <a:xfrm>
            <a:off x="2463069" y="4160328"/>
            <a:ext cx="2407267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0FDA73A-62FC-CB22-EA3A-780FB5B5B7A1}"/>
              </a:ext>
            </a:extLst>
          </p:cNvPr>
          <p:cNvSpPr txBox="1"/>
          <p:nvPr/>
        </p:nvSpPr>
        <p:spPr>
          <a:xfrm>
            <a:off x="924258" y="5527030"/>
            <a:ext cx="4374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Traffic</a:t>
            </a:r>
            <a:r>
              <a:rPr lang="ko-KR" altLang="en-US" sz="1200" dirty="0"/>
              <a:t> 정보를 기반으로 </a:t>
            </a:r>
            <a:r>
              <a:rPr lang="en-US" altLang="ko-KR" sz="1200" dirty="0"/>
              <a:t> </a:t>
            </a:r>
            <a:r>
              <a:rPr lang="ko-KR" altLang="en-US" sz="1200" dirty="0"/>
              <a:t>파워트레인의 에너지 소비 최적화</a:t>
            </a:r>
            <a:endParaRPr lang="en-US" altLang="ko-KR" sz="1200" dirty="0"/>
          </a:p>
          <a:p>
            <a:pPr algn="ctr"/>
            <a:r>
              <a:rPr lang="en-US" altLang="ko-KR" sz="1200" dirty="0">
                <a:sym typeface="Wingdings" panose="05000000000000000000" pitchFamily="2" charset="2"/>
              </a:rPr>
              <a:t> BTM </a:t>
            </a:r>
            <a:r>
              <a:rPr lang="ko-KR" altLang="en-US" sz="1200" dirty="0">
                <a:sym typeface="Wingdings" panose="05000000000000000000" pitchFamily="2" charset="2"/>
              </a:rPr>
              <a:t>시스템의 </a:t>
            </a:r>
            <a:r>
              <a:rPr lang="ko-KR" altLang="en-US" sz="1200" dirty="0" err="1">
                <a:sym typeface="Wingdings" panose="05000000000000000000" pitchFamily="2" charset="2"/>
              </a:rPr>
              <a:t>열동역학</a:t>
            </a:r>
            <a:r>
              <a:rPr lang="ko-KR" altLang="en-US" sz="1200" dirty="0">
                <a:sym typeface="Wingdings" panose="05000000000000000000" pitchFamily="2" charset="2"/>
              </a:rPr>
              <a:t> 기반으로 최적의 </a:t>
            </a:r>
            <a:r>
              <a:rPr lang="ko-KR" altLang="en-US" sz="1200" b="1" dirty="0">
                <a:sym typeface="Wingdings" panose="05000000000000000000" pitchFamily="2" charset="2"/>
              </a:rPr>
              <a:t>배터리 온도 경로</a:t>
            </a:r>
            <a:r>
              <a:rPr lang="ko-KR" altLang="en-US" sz="1200" dirty="0">
                <a:sym typeface="Wingdings" panose="05000000000000000000" pitchFamily="2" charset="2"/>
              </a:rPr>
              <a:t>를 </a:t>
            </a:r>
            <a:r>
              <a:rPr lang="ko-KR" altLang="en-US" sz="1200" b="1" dirty="0">
                <a:sym typeface="Wingdings" panose="05000000000000000000" pitchFamily="2" charset="2"/>
              </a:rPr>
              <a:t>최적화된 속도</a:t>
            </a:r>
            <a:r>
              <a:rPr lang="ko-KR" altLang="en-US" sz="1200" dirty="0">
                <a:sym typeface="Wingdings" panose="05000000000000000000" pitchFamily="2" charset="2"/>
              </a:rPr>
              <a:t>에 대하여 도출</a:t>
            </a:r>
            <a:endParaRPr lang="en-US" altLang="ko-KR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442296-C347-291E-236D-6D5382F6ED01}"/>
              </a:ext>
            </a:extLst>
          </p:cNvPr>
          <p:cNvSpPr txBox="1"/>
          <p:nvPr/>
        </p:nvSpPr>
        <p:spPr>
          <a:xfrm>
            <a:off x="3709846" y="1936649"/>
            <a:ext cx="783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First level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31CDA0-693C-B921-7AE7-08055A0626C5}"/>
              </a:ext>
            </a:extLst>
          </p:cNvPr>
          <p:cNvSpPr txBox="1"/>
          <p:nvPr/>
        </p:nvSpPr>
        <p:spPr>
          <a:xfrm>
            <a:off x="6096000" y="1929211"/>
            <a:ext cx="980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Second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C96025-6ABD-C3C2-6ED7-A7ABC22F72BE}"/>
              </a:ext>
            </a:extLst>
          </p:cNvPr>
          <p:cNvSpPr txBox="1"/>
          <p:nvPr/>
        </p:nvSpPr>
        <p:spPr>
          <a:xfrm>
            <a:off x="5223863" y="5585573"/>
            <a:ext cx="4866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하위단에서는 </a:t>
            </a:r>
            <a:r>
              <a:rPr lang="en-US" altLang="ko-KR" sz="1200" dirty="0"/>
              <a:t>MPC </a:t>
            </a:r>
            <a:r>
              <a:rPr lang="ko-KR" altLang="en-US" sz="1200" dirty="0"/>
              <a:t>기반의 제어기로 최적화된 속도</a:t>
            </a:r>
            <a:r>
              <a:rPr lang="en-US" altLang="ko-KR" sz="1200" dirty="0"/>
              <a:t>, </a:t>
            </a:r>
            <a:r>
              <a:rPr lang="ko-KR" altLang="en-US" sz="1200" dirty="0"/>
              <a:t>온도 지령을 </a:t>
            </a:r>
            <a:r>
              <a:rPr lang="en-US" altLang="ko-KR" sz="1200" dirty="0"/>
              <a:t>tacking</a:t>
            </a:r>
            <a:r>
              <a:rPr lang="ko-KR" altLang="en-US" sz="1200" dirty="0"/>
              <a:t>하기 위한 최적의 토크 결정 </a:t>
            </a:r>
            <a:r>
              <a:rPr lang="en-US" altLang="ko-KR" sz="1200" dirty="0"/>
              <a:t>(</a:t>
            </a:r>
            <a:r>
              <a:rPr lang="ko-KR" altLang="en-US" sz="1200" dirty="0"/>
              <a:t>에너지 효율 고려하여</a:t>
            </a:r>
            <a:r>
              <a:rPr lang="en-US" altLang="ko-KR" sz="1200" dirty="0"/>
              <a:t>)</a:t>
            </a:r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4926FCA-A669-14CE-820A-B753500CDBB5}"/>
              </a:ext>
            </a:extLst>
          </p:cNvPr>
          <p:cNvSpPr/>
          <p:nvPr/>
        </p:nvSpPr>
        <p:spPr>
          <a:xfrm>
            <a:off x="6531429" y="2418847"/>
            <a:ext cx="3796937" cy="1325839"/>
          </a:xfrm>
          <a:custGeom>
            <a:avLst/>
            <a:gdLst>
              <a:gd name="connsiteX0" fmla="*/ 0 w 3796937"/>
              <a:gd name="connsiteY0" fmla="*/ 1325839 h 1325839"/>
              <a:gd name="connsiteX1" fmla="*/ 3239588 w 3796937"/>
              <a:gd name="connsiteY1" fmla="*/ 10844 h 1325839"/>
              <a:gd name="connsiteX2" fmla="*/ 3796937 w 3796937"/>
              <a:gd name="connsiteY2" fmla="*/ 707530 h 132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6937" h="1325839">
                <a:moveTo>
                  <a:pt x="0" y="1325839"/>
                </a:moveTo>
                <a:cubicBezTo>
                  <a:pt x="1303382" y="719867"/>
                  <a:pt x="2606765" y="113895"/>
                  <a:pt x="3239588" y="10844"/>
                </a:cubicBezTo>
                <a:cubicBezTo>
                  <a:pt x="3872411" y="-92207"/>
                  <a:pt x="3688080" y="569644"/>
                  <a:pt x="3796937" y="707530"/>
                </a:cubicBezTo>
              </a:path>
            </a:pathLst>
          </a:cu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8DBC4B-BAF8-069F-6BD8-218E368946AF}"/>
              </a:ext>
            </a:extLst>
          </p:cNvPr>
          <p:cNvSpPr txBox="1"/>
          <p:nvPr/>
        </p:nvSpPr>
        <p:spPr>
          <a:xfrm>
            <a:off x="9323152" y="3251320"/>
            <a:ext cx="265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Gaussian process (GP) </a:t>
            </a:r>
            <a:r>
              <a:rPr lang="ko-KR" altLang="en-US" sz="1200" b="1" dirty="0"/>
              <a:t>모델을 </a:t>
            </a:r>
            <a:r>
              <a:rPr lang="en-US" altLang="ko-KR" sz="1200" dirty="0"/>
              <a:t>MPC</a:t>
            </a:r>
            <a:r>
              <a:rPr lang="ko-KR" altLang="en-US" sz="1200" dirty="0"/>
              <a:t>에 적용하여 학습기반의 </a:t>
            </a:r>
            <a:r>
              <a:rPr lang="en-US" altLang="ko-KR" sz="1200" dirty="0"/>
              <a:t>MPC</a:t>
            </a:r>
            <a:r>
              <a:rPr lang="ko-KR" altLang="en-US" sz="1200" dirty="0"/>
              <a:t>로 </a:t>
            </a:r>
            <a:r>
              <a:rPr lang="en-US" altLang="ko-KR" sz="1200" dirty="0"/>
              <a:t>REALTIME implementation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CF29D6-42D0-5797-B275-4B09DA7DE4C6}"/>
              </a:ext>
            </a:extLst>
          </p:cNvPr>
          <p:cNvSpPr txBox="1"/>
          <p:nvPr/>
        </p:nvSpPr>
        <p:spPr>
          <a:xfrm>
            <a:off x="9253632" y="3883329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LMPC </a:t>
            </a:r>
            <a:r>
              <a:rPr lang="en-US" altLang="ko-KR" sz="1200" dirty="0">
                <a:sym typeface="Wingdings" panose="05000000000000000000" pitchFamily="2" charset="2"/>
              </a:rPr>
              <a:t> learning-based MPC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57379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 Contributions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Two-level Optimization Framework</a:t>
            </a:r>
          </a:p>
          <a:p>
            <a:pPr lvl="1"/>
            <a:r>
              <a:rPr lang="ko-KR" altLang="en-US" dirty="0"/>
              <a:t>배터리 열관리 </a:t>
            </a:r>
            <a:r>
              <a:rPr lang="en-US" altLang="ko-KR" dirty="0"/>
              <a:t>(BTM) , </a:t>
            </a:r>
            <a:r>
              <a:rPr lang="ko-KR" altLang="en-US" dirty="0"/>
              <a:t>차량 속도 동시 최적화하여 에너지 소비 감소 </a:t>
            </a:r>
            <a:r>
              <a:rPr lang="en-US" altLang="ko-KR" dirty="0"/>
              <a:t>&amp; </a:t>
            </a:r>
            <a:r>
              <a:rPr lang="ko-KR" altLang="en-US" dirty="0"/>
              <a:t>배터리 온도 유지</a:t>
            </a:r>
            <a:endParaRPr lang="en-US" altLang="ko-KR" dirty="0"/>
          </a:p>
          <a:p>
            <a:pPr lvl="2"/>
            <a:r>
              <a:rPr lang="en-US" altLang="ko-KR" dirty="0"/>
              <a:t>Upper</a:t>
            </a:r>
            <a:r>
              <a:rPr lang="ko-KR" altLang="en-US" dirty="0"/>
              <a:t> </a:t>
            </a:r>
            <a:r>
              <a:rPr lang="en-US" altLang="ko-KR" dirty="0"/>
              <a:t>layer(</a:t>
            </a:r>
            <a:r>
              <a:rPr lang="ko-KR" altLang="en-US" dirty="0"/>
              <a:t>상위 제어기</a:t>
            </a:r>
            <a:r>
              <a:rPr lang="en-US" altLang="ko-KR" dirty="0"/>
              <a:t>): CAV </a:t>
            </a:r>
            <a:r>
              <a:rPr lang="ko-KR" altLang="en-US" dirty="0"/>
              <a:t>기반 최적 속도 및 온도 경로 계획</a:t>
            </a:r>
            <a:endParaRPr lang="en-US" altLang="ko-KR" dirty="0"/>
          </a:p>
          <a:p>
            <a:pPr lvl="2"/>
            <a:r>
              <a:rPr lang="en-US" altLang="ko-KR" dirty="0"/>
              <a:t>Lower layer(</a:t>
            </a:r>
            <a:r>
              <a:rPr lang="ko-KR" altLang="en-US" dirty="0"/>
              <a:t>하위 제어기</a:t>
            </a:r>
            <a:r>
              <a:rPr lang="en-US" altLang="ko-KR" dirty="0"/>
              <a:t>): </a:t>
            </a:r>
            <a:r>
              <a:rPr lang="ko-KR" altLang="en-US" dirty="0"/>
              <a:t>주어진 지령을 </a:t>
            </a:r>
            <a:r>
              <a:rPr lang="en-US" altLang="ko-KR" dirty="0"/>
              <a:t>LMPC </a:t>
            </a:r>
            <a:r>
              <a:rPr lang="ko-KR" altLang="en-US" dirty="0"/>
              <a:t>기반 추종하여 에너지 최적화 극대화</a:t>
            </a:r>
            <a:endParaRPr lang="en-US" altLang="ko-KR" dirty="0"/>
          </a:p>
          <a:p>
            <a:r>
              <a:rPr lang="en-US" altLang="ko-KR" dirty="0"/>
              <a:t>Iterative Dynamic Programming (IDP) </a:t>
            </a:r>
            <a:r>
              <a:rPr lang="ko-KR" altLang="en-US" dirty="0"/>
              <a:t>기반 </a:t>
            </a:r>
            <a:r>
              <a:rPr lang="en-US" altLang="ko-KR" dirty="0"/>
              <a:t>long term </a:t>
            </a:r>
            <a:r>
              <a:rPr lang="ko-KR" altLang="en-US" dirty="0"/>
              <a:t>최적 경로 생성 </a:t>
            </a:r>
            <a:r>
              <a:rPr lang="en-US" altLang="ko-KR" dirty="0"/>
              <a:t>(</a:t>
            </a:r>
            <a:r>
              <a:rPr lang="ko-KR" altLang="en-US" dirty="0"/>
              <a:t>상위 제어기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교통 정보를 활용하여 </a:t>
            </a:r>
            <a:r>
              <a:rPr lang="en-US" altLang="ko-KR" dirty="0"/>
              <a:t>DP</a:t>
            </a:r>
            <a:r>
              <a:rPr lang="ko-KR" altLang="en-US" dirty="0"/>
              <a:t>를 통해 최적의 차량 속도와 배터리 온도 경로를 구하고 하위 제어기 지령으로 전달</a:t>
            </a:r>
            <a:endParaRPr lang="en-US" altLang="ko-KR" dirty="0"/>
          </a:p>
          <a:p>
            <a:pPr lvl="1"/>
            <a:r>
              <a:rPr lang="en-US" altLang="ko-KR" dirty="0"/>
              <a:t>Intelligent connected information</a:t>
            </a:r>
            <a:r>
              <a:rPr lang="ko-KR" altLang="en-US" dirty="0"/>
              <a:t>을 활용하여 </a:t>
            </a:r>
            <a:r>
              <a:rPr lang="en-US" altLang="ko-KR" dirty="0"/>
              <a:t>DP </a:t>
            </a:r>
            <a:r>
              <a:rPr lang="ko-KR" altLang="en-US" dirty="0"/>
              <a:t>수행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일반 </a:t>
            </a:r>
            <a:r>
              <a:rPr lang="en-US" altLang="ko-KR" dirty="0">
                <a:sym typeface="Wingdings" panose="05000000000000000000" pitchFamily="2" charset="2"/>
              </a:rPr>
              <a:t>DP</a:t>
            </a:r>
            <a:r>
              <a:rPr lang="ko-KR" altLang="en-US" dirty="0">
                <a:sym typeface="Wingdings" panose="05000000000000000000" pitchFamily="2" charset="2"/>
              </a:rPr>
              <a:t>보다 </a:t>
            </a:r>
            <a:r>
              <a:rPr lang="ko-KR" altLang="en-US" dirty="0" err="1">
                <a:sym typeface="Wingdings" panose="05000000000000000000" pitchFamily="2" charset="2"/>
              </a:rPr>
              <a:t>연산량</a:t>
            </a:r>
            <a:r>
              <a:rPr lang="ko-KR" altLang="en-US" dirty="0">
                <a:sym typeface="Wingdings" panose="05000000000000000000" pitchFamily="2" charset="2"/>
              </a:rPr>
              <a:t> 감소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Learning-based MPC</a:t>
            </a:r>
            <a:r>
              <a:rPr lang="ko-KR" altLang="en-US" dirty="0"/>
              <a:t>로 </a:t>
            </a:r>
            <a:r>
              <a:rPr lang="en-US" altLang="ko-KR" dirty="0"/>
              <a:t>real-time implementation </a:t>
            </a:r>
          </a:p>
          <a:p>
            <a:pPr lvl="1"/>
            <a:r>
              <a:rPr lang="en-US" altLang="ko-KR" dirty="0"/>
              <a:t>MPC</a:t>
            </a:r>
            <a:r>
              <a:rPr lang="ko-KR" altLang="en-US" dirty="0"/>
              <a:t> 모델 오차를 줄이기 위해 모델 학습 </a:t>
            </a:r>
            <a:r>
              <a:rPr lang="en-US" altLang="ko-KR" dirty="0">
                <a:sym typeface="Wingdings" panose="05000000000000000000" pitchFamily="2" charset="2"/>
              </a:rPr>
              <a:t> Gaussian process model </a:t>
            </a:r>
            <a:r>
              <a:rPr lang="ko-KR" altLang="en-US" dirty="0">
                <a:sym typeface="Wingdings" panose="05000000000000000000" pitchFamily="2" charset="2"/>
              </a:rPr>
              <a:t>사용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6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890428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Energy consumption and thermal model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System model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7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1E6E95E-74CE-60D4-DA03-6A4ED3A44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716" y="1987692"/>
            <a:ext cx="4373094" cy="2454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C25354-47FC-A668-CEA0-600E10E15672}"/>
              </a:ext>
            </a:extLst>
          </p:cNvPr>
          <p:cNvSpPr txBox="1"/>
          <p:nvPr/>
        </p:nvSpPr>
        <p:spPr>
          <a:xfrm>
            <a:off x="7454879" y="1500203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BTM </a:t>
            </a:r>
            <a:r>
              <a:rPr lang="ko-KR" altLang="en-US" sz="1200" b="1" dirty="0"/>
              <a:t>시스템</a:t>
            </a:r>
            <a:endParaRPr lang="en-US" altLang="ko-KR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A94B19-C6E7-287F-93D6-AAC60EBAF207}"/>
              </a:ext>
            </a:extLst>
          </p:cNvPr>
          <p:cNvSpPr txBox="1"/>
          <p:nvPr/>
        </p:nvSpPr>
        <p:spPr>
          <a:xfrm>
            <a:off x="2596469" y="1641361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CAEV energy flow</a:t>
            </a:r>
            <a:endParaRPr lang="en-US" altLang="ko-KR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CF48864-2ABE-880F-B0EA-565C00A88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909" y="1828162"/>
            <a:ext cx="3596382" cy="26144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93E7CB8-A685-778D-7B6C-C841DF0BEB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184"/>
          <a:stretch/>
        </p:blipFill>
        <p:spPr>
          <a:xfrm>
            <a:off x="2919822" y="4654249"/>
            <a:ext cx="2967147" cy="924054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FBDA599-7ACE-E7E3-7307-68982B60E37A}"/>
              </a:ext>
            </a:extLst>
          </p:cNvPr>
          <p:cNvCxnSpPr/>
          <p:nvPr/>
        </p:nvCxnSpPr>
        <p:spPr>
          <a:xfrm>
            <a:off x="5957945" y="5060188"/>
            <a:ext cx="5024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7CB9AC8D-BF05-4E6C-9725-D15DA1D63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771" y="5735395"/>
            <a:ext cx="4411483" cy="39690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F938B29-F8B3-0ECD-19D6-B6FA4304E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601" y="4707714"/>
            <a:ext cx="4048690" cy="7049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2218CA-2DC5-1251-DD55-D3350B234F8C}"/>
              </a:ext>
            </a:extLst>
          </p:cNvPr>
          <p:cNvSpPr txBox="1"/>
          <p:nvPr/>
        </p:nvSpPr>
        <p:spPr>
          <a:xfrm>
            <a:off x="7454879" y="5542329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배터리 열 관련 비선형 함수</a:t>
            </a:r>
            <a:endParaRPr lang="en-US" altLang="ko-KR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FF404E-7FA9-DB70-EBE7-2FE91306D87A}"/>
              </a:ext>
            </a:extLst>
          </p:cNvPr>
          <p:cNvSpPr/>
          <p:nvPr/>
        </p:nvSpPr>
        <p:spPr>
          <a:xfrm>
            <a:off x="4562191" y="4939427"/>
            <a:ext cx="975501" cy="300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6BB01F7-0C64-E284-2A7B-B8CCF7D4A6F9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358581" y="5250461"/>
            <a:ext cx="2096298" cy="4303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F8AD135-7B0D-43A5-42F0-B863A4B2B54B}"/>
              </a:ext>
            </a:extLst>
          </p:cNvPr>
          <p:cNvSpPr/>
          <p:nvPr/>
        </p:nvSpPr>
        <p:spPr>
          <a:xfrm>
            <a:off x="4562191" y="4626303"/>
            <a:ext cx="975501" cy="300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2F9381C-6B04-AE65-0E6A-135EFC3963F6}"/>
              </a:ext>
            </a:extLst>
          </p:cNvPr>
          <p:cNvCxnSpPr>
            <a:cxnSpLocks/>
          </p:cNvCxnSpPr>
          <p:nvPr/>
        </p:nvCxnSpPr>
        <p:spPr>
          <a:xfrm flipV="1">
            <a:off x="5358581" y="4370819"/>
            <a:ext cx="1048149" cy="252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5B0D316-86E3-8979-154A-30B6BD588967}"/>
              </a:ext>
            </a:extLst>
          </p:cNvPr>
          <p:cNvSpPr txBox="1"/>
          <p:nvPr/>
        </p:nvSpPr>
        <p:spPr>
          <a:xfrm>
            <a:off x="6127271" y="4250466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차량 동역학 관련 비선형 함수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532045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Energy consumption and thermal model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System model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8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87705F7-6B82-AA1F-3979-7F073B1C3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702" y="4379000"/>
            <a:ext cx="7209527" cy="17395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3D5C8B-0972-2357-3195-A88CB2069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615" y="1313048"/>
            <a:ext cx="4695170" cy="29988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03FBA4-1016-E4FC-D3B5-08E97BB51FC5}"/>
              </a:ext>
            </a:extLst>
          </p:cNvPr>
          <p:cNvSpPr txBox="1"/>
          <p:nvPr/>
        </p:nvSpPr>
        <p:spPr>
          <a:xfrm>
            <a:off x="960731" y="4872990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배터리 열 변화</a:t>
            </a:r>
            <a:endParaRPr lang="en-US" altLang="ko-KR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F8B7EC-2CD1-74D2-438F-7461B139ECFA}"/>
              </a:ext>
            </a:extLst>
          </p:cNvPr>
          <p:cNvSpPr txBox="1"/>
          <p:nvPr/>
        </p:nvSpPr>
        <p:spPr>
          <a:xfrm>
            <a:off x="788399" y="5354232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Plate HX </a:t>
            </a:r>
            <a:r>
              <a:rPr lang="ko-KR" altLang="en-US" sz="1200" dirty="0"/>
              <a:t>열 변화</a:t>
            </a:r>
            <a:endParaRPr lang="en-US" altLang="ko-KR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D511EA-8003-60AB-0BB9-142BE37D68F6}"/>
              </a:ext>
            </a:extLst>
          </p:cNvPr>
          <p:cNvSpPr txBox="1"/>
          <p:nvPr/>
        </p:nvSpPr>
        <p:spPr>
          <a:xfrm>
            <a:off x="788399" y="5762955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External HX </a:t>
            </a:r>
            <a:r>
              <a:rPr lang="ko-KR" altLang="en-US" sz="1200" b="1" dirty="0"/>
              <a:t>열 변화</a:t>
            </a:r>
            <a:endParaRPr lang="en-US" altLang="ko-KR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2933D5C-C09D-DA5F-4E43-A665BA58FAFF}"/>
              </a:ext>
            </a:extLst>
          </p:cNvPr>
          <p:cNvSpPr/>
          <p:nvPr/>
        </p:nvSpPr>
        <p:spPr>
          <a:xfrm>
            <a:off x="3615947" y="4586448"/>
            <a:ext cx="1510235" cy="4250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EFC121-47BA-9EA0-533B-CFDA74FB6317}"/>
              </a:ext>
            </a:extLst>
          </p:cNvPr>
          <p:cNvSpPr txBox="1"/>
          <p:nvPr/>
        </p:nvSpPr>
        <p:spPr>
          <a:xfrm>
            <a:off x="2918840" y="4266910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배터리에 대한 모델 정보 필요</a:t>
            </a:r>
            <a:r>
              <a:rPr lang="en-US" altLang="ko-KR" sz="1200" b="1" dirty="0"/>
              <a:t>?</a:t>
            </a:r>
            <a:endParaRPr lang="en-US" altLang="ko-KR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B050C-D77B-2F29-E9BE-6A1A6C54DC90}"/>
              </a:ext>
            </a:extLst>
          </p:cNvPr>
          <p:cNvSpPr txBox="1"/>
          <p:nvPr/>
        </p:nvSpPr>
        <p:spPr>
          <a:xfrm>
            <a:off x="9277316" y="4266910"/>
            <a:ext cx="265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BTM </a:t>
            </a:r>
            <a:r>
              <a:rPr lang="ko-KR" altLang="en-US" sz="1200" b="1" dirty="0"/>
              <a:t>시스템 모델의 파라미터는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논문에서는 </a:t>
            </a:r>
            <a:r>
              <a:rPr lang="en-US" altLang="ko-KR" sz="1200" b="1" dirty="0"/>
              <a:t>constant</a:t>
            </a:r>
            <a:r>
              <a:rPr lang="ko-KR" altLang="en-US" sz="1200" b="1" dirty="0"/>
              <a:t>한 </a:t>
            </a:r>
            <a:r>
              <a:rPr lang="en-US" altLang="ko-KR" sz="1200" b="1" dirty="0"/>
              <a:t>coefficient </a:t>
            </a:r>
            <a:r>
              <a:rPr lang="ko-KR" altLang="en-US" sz="1200" b="1" dirty="0"/>
              <a:t>사용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691344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Energy consumption and thermal model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Two-level optimization strategy</a:t>
            </a:r>
          </a:p>
          <a:p>
            <a:pPr lvl="1"/>
            <a:r>
              <a:rPr lang="en-US" altLang="ko-KR" dirty="0"/>
              <a:t>DP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optimal control input</a:t>
            </a:r>
            <a:r>
              <a:rPr lang="ko-KR" altLang="en-US" dirty="0"/>
              <a:t>의 </a:t>
            </a:r>
            <a:r>
              <a:rPr lang="en-US" altLang="ko-KR" dirty="0"/>
              <a:t>solution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9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4BB57E-E66E-B47D-3877-F8E178A4F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34" y="1945387"/>
            <a:ext cx="6001587" cy="15328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9D7FF4-9042-322D-39D2-67CF2811D2F3}"/>
              </a:ext>
            </a:extLst>
          </p:cNvPr>
          <p:cNvSpPr txBox="1"/>
          <p:nvPr/>
        </p:nvSpPr>
        <p:spPr>
          <a:xfrm>
            <a:off x="8769409" y="2697251"/>
            <a:ext cx="2655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최적의 제어 입력과 온도 궤적을 </a:t>
            </a:r>
            <a:r>
              <a:rPr lang="en-US" altLang="ko-KR" sz="1200" b="1" dirty="0"/>
              <a:t>DP</a:t>
            </a:r>
            <a:r>
              <a:rPr lang="ko-KR" altLang="en-US" sz="1200" b="1" dirty="0"/>
              <a:t>를 통해 </a:t>
            </a:r>
            <a:r>
              <a:rPr lang="en-US" altLang="ko-KR" sz="1200" b="1" dirty="0"/>
              <a:t>matrix</a:t>
            </a:r>
            <a:r>
              <a:rPr lang="ko-KR" altLang="en-US" sz="1200" b="1" dirty="0"/>
              <a:t>에 저장</a:t>
            </a:r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1200" b="1" dirty="0"/>
              <a:t>하지만 모든 영역에 대하여 </a:t>
            </a:r>
            <a:r>
              <a:rPr lang="en-US" altLang="ko-KR" sz="1200" b="1" dirty="0"/>
              <a:t>DP</a:t>
            </a:r>
            <a:r>
              <a:rPr lang="ko-KR" altLang="en-US" sz="1200" b="1" dirty="0"/>
              <a:t>를 풀면 과도한 연산이 필요 하므로 </a:t>
            </a:r>
            <a:r>
              <a:rPr lang="en-US" altLang="ko-KR" sz="1200" b="1" dirty="0"/>
              <a:t>state </a:t>
            </a:r>
            <a:r>
              <a:rPr lang="ko-KR" altLang="en-US" sz="1200" b="1" dirty="0"/>
              <a:t>와 제어 입력의 </a:t>
            </a:r>
            <a:r>
              <a:rPr lang="en-US" altLang="ko-KR" sz="1200" b="1" dirty="0"/>
              <a:t>boundary </a:t>
            </a:r>
            <a:r>
              <a:rPr lang="ko-KR" altLang="en-US" sz="1200" b="1" dirty="0"/>
              <a:t>를 </a:t>
            </a:r>
            <a:r>
              <a:rPr lang="en-US" altLang="ko-KR" sz="1200" b="1" dirty="0"/>
              <a:t>min, max</a:t>
            </a:r>
            <a:r>
              <a:rPr lang="ko-KR" altLang="en-US" sz="1200" b="1" dirty="0"/>
              <a:t>로 정하고 그 영역에 대하여 축소된 </a:t>
            </a:r>
            <a:r>
              <a:rPr lang="en-US" altLang="ko-KR" sz="1200" b="1" dirty="0"/>
              <a:t>DP</a:t>
            </a:r>
            <a:r>
              <a:rPr lang="ko-KR" altLang="en-US" sz="1200" b="1" dirty="0"/>
              <a:t>를 매 </a:t>
            </a:r>
            <a:r>
              <a:rPr lang="en-US" altLang="ko-KR" sz="1200" b="1" dirty="0"/>
              <a:t>iterative</a:t>
            </a:r>
            <a:r>
              <a:rPr lang="ko-KR" altLang="en-US" sz="1200" b="1" dirty="0"/>
              <a:t>마다 구함</a:t>
            </a:r>
            <a:endParaRPr lang="en-US" altLang="ko-KR" sz="1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A6DF85-CEC9-E8B4-5975-935C661E7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166" y="3866426"/>
            <a:ext cx="4450523" cy="2192728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A84B0A4-2BFF-B1B1-CA0A-10B8CA7A7B9E}"/>
              </a:ext>
            </a:extLst>
          </p:cNvPr>
          <p:cNvSpPr/>
          <p:nvPr/>
        </p:nvSpPr>
        <p:spPr>
          <a:xfrm>
            <a:off x="6927273" y="4341091"/>
            <a:ext cx="2604654" cy="1034172"/>
          </a:xfrm>
          <a:custGeom>
            <a:avLst/>
            <a:gdLst>
              <a:gd name="connsiteX0" fmla="*/ 2604654 w 2604654"/>
              <a:gd name="connsiteY0" fmla="*/ 0 h 1034172"/>
              <a:gd name="connsiteX1" fmla="*/ 701963 w 2604654"/>
              <a:gd name="connsiteY1" fmla="*/ 960582 h 1034172"/>
              <a:gd name="connsiteX2" fmla="*/ 0 w 2604654"/>
              <a:gd name="connsiteY2" fmla="*/ 895927 h 1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4654" h="1034172">
                <a:moveTo>
                  <a:pt x="2604654" y="0"/>
                </a:moveTo>
                <a:cubicBezTo>
                  <a:pt x="1870363" y="405630"/>
                  <a:pt x="1136072" y="811261"/>
                  <a:pt x="701963" y="960582"/>
                </a:cubicBezTo>
                <a:cubicBezTo>
                  <a:pt x="267854" y="1109903"/>
                  <a:pt x="133927" y="1002915"/>
                  <a:pt x="0" y="895927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586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Energy consumption and thermal model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Two-level optimization strategy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10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DDA5A1D-5C0F-D866-5AE6-BC2DEAA3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128" y="1884547"/>
            <a:ext cx="9162597" cy="357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28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Energy consumption and thermal model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Two-level optimization strategy</a:t>
            </a:r>
          </a:p>
          <a:p>
            <a:pPr lvl="1"/>
            <a:r>
              <a:rPr lang="en-US" altLang="ko-KR" dirty="0"/>
              <a:t>Gaussian process-based model learning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11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53855A-2C65-A7C0-0558-9E3CAB796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566" y="2347728"/>
            <a:ext cx="6439799" cy="181000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FB7C467-6BBF-4030-6B61-414CCA307CF7}"/>
              </a:ext>
            </a:extLst>
          </p:cNvPr>
          <p:cNvSpPr/>
          <p:nvPr/>
        </p:nvSpPr>
        <p:spPr>
          <a:xfrm>
            <a:off x="4179367" y="2363730"/>
            <a:ext cx="1205434" cy="374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A22A3-CC19-4614-CDED-CF708083C81C}"/>
              </a:ext>
            </a:extLst>
          </p:cNvPr>
          <p:cNvSpPr txBox="1"/>
          <p:nvPr/>
        </p:nvSpPr>
        <p:spPr>
          <a:xfrm>
            <a:off x="3372211" y="2070729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기존 모델</a:t>
            </a:r>
            <a:endParaRPr lang="en-US" altLang="ko-KR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4981A3-FCE6-CF29-9978-8910652AAC04}"/>
              </a:ext>
            </a:extLst>
          </p:cNvPr>
          <p:cNvSpPr/>
          <p:nvPr/>
        </p:nvSpPr>
        <p:spPr>
          <a:xfrm>
            <a:off x="5493283" y="2363730"/>
            <a:ext cx="288681" cy="374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77C82-D77F-5500-DED9-9E9F6FF75087}"/>
              </a:ext>
            </a:extLst>
          </p:cNvPr>
          <p:cNvSpPr txBox="1"/>
          <p:nvPr/>
        </p:nvSpPr>
        <p:spPr>
          <a:xfrm>
            <a:off x="4454356" y="1875458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가중치 매트릭스</a:t>
            </a:r>
            <a:endParaRPr lang="en-US" altLang="ko-KR" sz="1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A167D9-CC01-27DE-B48F-CC525418B0C9}"/>
              </a:ext>
            </a:extLst>
          </p:cNvPr>
          <p:cNvSpPr/>
          <p:nvPr/>
        </p:nvSpPr>
        <p:spPr>
          <a:xfrm>
            <a:off x="5951659" y="2363730"/>
            <a:ext cx="661577" cy="374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4C593-06AD-1CF7-92B7-EB4EB4D1D336}"/>
              </a:ext>
            </a:extLst>
          </p:cNvPr>
          <p:cNvSpPr txBox="1"/>
          <p:nvPr/>
        </p:nvSpPr>
        <p:spPr>
          <a:xfrm>
            <a:off x="4786033" y="2734440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학습 예측 오차</a:t>
            </a:r>
            <a:endParaRPr lang="en-US" altLang="ko-KR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668B58-8ED7-85BA-4D2A-7ADC045BC67F}"/>
              </a:ext>
            </a:extLst>
          </p:cNvPr>
          <p:cNvSpPr/>
          <p:nvPr/>
        </p:nvSpPr>
        <p:spPr>
          <a:xfrm>
            <a:off x="6710790" y="2363730"/>
            <a:ext cx="661577" cy="374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A2D6DA-C0E4-DA12-2639-4B9F15A1A62A}"/>
              </a:ext>
            </a:extLst>
          </p:cNvPr>
          <p:cNvSpPr txBox="1"/>
          <p:nvPr/>
        </p:nvSpPr>
        <p:spPr>
          <a:xfrm>
            <a:off x="5781964" y="2049108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노이즈</a:t>
            </a:r>
            <a:endParaRPr lang="en-US" altLang="ko-KR" sz="12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91FE1E2-88A1-D3B5-FCA7-7111D01BD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470" y="4841020"/>
            <a:ext cx="4945675" cy="143861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839383E-4FEE-0535-9FE6-8F3E0D2A088A}"/>
              </a:ext>
            </a:extLst>
          </p:cNvPr>
          <p:cNvSpPr txBox="1"/>
          <p:nvPr/>
        </p:nvSpPr>
        <p:spPr>
          <a:xfrm>
            <a:off x="576321" y="5280071"/>
            <a:ext cx="265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Regression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model</a:t>
            </a:r>
            <a:r>
              <a:rPr lang="ko-KR" altLang="en-US" sz="1200" b="1" dirty="0"/>
              <a:t>을 설계하고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학습을 통해서 </a:t>
            </a:r>
            <a:r>
              <a:rPr lang="en-US" altLang="ko-KR" sz="1200" b="1" dirty="0"/>
              <a:t>unknown function g</a:t>
            </a:r>
            <a:r>
              <a:rPr lang="ko-KR" altLang="en-US" sz="1200" b="1" dirty="0"/>
              <a:t>를 추정하겠다</a:t>
            </a:r>
            <a:r>
              <a:rPr lang="en-US" altLang="ko-KR" sz="1200" b="1" dirty="0"/>
              <a:t>!</a:t>
            </a:r>
            <a:endParaRPr lang="en-US" altLang="ko-KR" sz="12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ED30A1F-320B-BCBC-DB67-357DD37B8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809" y="4322429"/>
            <a:ext cx="6382641" cy="47631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57E872BF-C1F2-DD40-B622-EEC656560E7E}"/>
              </a:ext>
            </a:extLst>
          </p:cNvPr>
          <p:cNvSpPr/>
          <p:nvPr/>
        </p:nvSpPr>
        <p:spPr>
          <a:xfrm>
            <a:off x="5896307" y="4263602"/>
            <a:ext cx="199693" cy="374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36E8B6-6998-D73F-953E-745629C20AD1}"/>
              </a:ext>
            </a:extLst>
          </p:cNvPr>
          <p:cNvSpPr txBox="1"/>
          <p:nvPr/>
        </p:nvSpPr>
        <p:spPr>
          <a:xfrm>
            <a:off x="4786033" y="4628565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parameter</a:t>
            </a:r>
            <a:endParaRPr lang="en-US" altLang="ko-KR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F39B12-41EA-E3D1-59D1-0C8530C55F40}"/>
              </a:ext>
            </a:extLst>
          </p:cNvPr>
          <p:cNvSpPr txBox="1"/>
          <p:nvPr/>
        </p:nvSpPr>
        <p:spPr>
          <a:xfrm>
            <a:off x="2059195" y="4628565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measurement</a:t>
            </a:r>
            <a:endParaRPr lang="en-US" altLang="ko-KR" sz="12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55FB1F4-F358-4C44-2BAD-5D2B57836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319" y="5065175"/>
            <a:ext cx="3017546" cy="87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29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Energy consumption and thermal model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Structure of the vehicle speed optimization (Upper layer)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12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8895F78-1DCE-E0CF-DED4-8B6870716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399" y="1511363"/>
            <a:ext cx="5355855" cy="28284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42847DF-9567-009D-0519-4BF556359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64" y="1751059"/>
            <a:ext cx="4294363" cy="2531071"/>
          </a:xfrm>
          <a:prstGeom prst="rect">
            <a:avLst/>
          </a:prstGeom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55CC158-B283-8534-F2D3-47B543185595}"/>
              </a:ext>
            </a:extLst>
          </p:cNvPr>
          <p:cNvCxnSpPr/>
          <p:nvPr/>
        </p:nvCxnSpPr>
        <p:spPr>
          <a:xfrm>
            <a:off x="4802909" y="3016594"/>
            <a:ext cx="6650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C2328DDC-C784-06D7-0A5E-9356DCF7F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683" y="4602535"/>
            <a:ext cx="6163535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27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Energy consumption and thermal model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BTM</a:t>
            </a:r>
            <a:r>
              <a:rPr lang="ko-KR" altLang="en-US" dirty="0"/>
              <a:t> </a:t>
            </a:r>
            <a:r>
              <a:rPr lang="en-US" altLang="ko-KR" dirty="0"/>
              <a:t>system optimization for temperature trajectory planning (Upper layer)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System energy optimization based on the LMPC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Ma, Yan, et al. "Two-level optimization strategy for vehicle speed and battery thermal management in connected and automated EVs."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Applied Energy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361 (2024): 122928.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13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[1] Two-level optimization strategy for vehicle speed and battery thermal management in connected and automated </a:t>
            </a:r>
            <a:r>
              <a:rPr lang="en-US" altLang="ko-KR" sz="1600" dirty="0" err="1"/>
              <a:t>Evs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9D8677-27F9-D758-D79A-5D675216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475" y="1780945"/>
            <a:ext cx="6477904" cy="1648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D01C33D-3769-26E8-1E45-EAE5CC498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90" y="4795684"/>
            <a:ext cx="5400877" cy="8187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F1976D-BC08-6C06-C75F-09192CB4F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690" y="4298268"/>
            <a:ext cx="4809686" cy="146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 Contributions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전기차의 에너지 효율 향상을 위해</a:t>
            </a:r>
            <a:r>
              <a:rPr lang="en-US" altLang="ko-KR" dirty="0"/>
              <a:t>, MPC </a:t>
            </a:r>
            <a:r>
              <a:rPr lang="ko-KR" altLang="en-US" dirty="0"/>
              <a:t>기반 에너지 최적화 전략</a:t>
            </a:r>
            <a:endParaRPr lang="en-US" altLang="ko-KR" dirty="0"/>
          </a:p>
          <a:p>
            <a:pPr lvl="1"/>
            <a:r>
              <a:rPr lang="en-US" altLang="ko-KR" dirty="0"/>
              <a:t>BTMS(</a:t>
            </a:r>
            <a:r>
              <a:rPr lang="ko-KR" altLang="en-US" dirty="0"/>
              <a:t>배터리 열관리 시스템</a:t>
            </a:r>
            <a:r>
              <a:rPr lang="en-US" altLang="ko-KR" dirty="0"/>
              <a:t>) &amp; </a:t>
            </a:r>
            <a:r>
              <a:rPr lang="ko-KR" altLang="en-US" dirty="0"/>
              <a:t>공조 시스템</a:t>
            </a:r>
            <a:r>
              <a:rPr lang="en-US" altLang="ko-KR" dirty="0"/>
              <a:t>(AC)</a:t>
            </a:r>
            <a:r>
              <a:rPr lang="ko-KR" altLang="en-US" dirty="0"/>
              <a:t>을 최적화하여 동시 제어</a:t>
            </a:r>
            <a:endParaRPr lang="en-US" altLang="ko-KR" dirty="0"/>
          </a:p>
          <a:p>
            <a:pPr lvl="1"/>
            <a:r>
              <a:rPr lang="en-US" altLang="ko-KR" dirty="0"/>
              <a:t>MPC </a:t>
            </a:r>
            <a:r>
              <a:rPr lang="ko-KR" altLang="en-US" dirty="0"/>
              <a:t>기반으로 배터리 </a:t>
            </a:r>
            <a:r>
              <a:rPr lang="en-US" altLang="ko-KR" dirty="0"/>
              <a:t>operation</a:t>
            </a:r>
            <a:r>
              <a:rPr lang="ko-KR" altLang="en-US" dirty="0"/>
              <a:t>과 방전 최적화하며 </a:t>
            </a:r>
            <a:r>
              <a:rPr lang="en-US" altLang="ko-KR" dirty="0"/>
              <a:t>BTMS</a:t>
            </a:r>
            <a:r>
              <a:rPr lang="ko-KR" altLang="en-US" dirty="0"/>
              <a:t>와 </a:t>
            </a:r>
            <a:r>
              <a:rPr lang="en-US" altLang="ko-KR" dirty="0"/>
              <a:t>AC</a:t>
            </a:r>
            <a:r>
              <a:rPr lang="ko-KR" altLang="en-US" dirty="0"/>
              <a:t>의 제약조건을 동시에 고려하여 최적 제어 수행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Liu,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Yuanzhi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and Jie Zhang. "Electric vehicle battery thermal and cabin climate management based on model predictive control."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Mechanical Design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143.3 (2021): 031705.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14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[2] Electric Vehicle Battery Thermal and Cabin Climate Management Based on Model Predictive Control</a:t>
            </a:r>
          </a:p>
          <a:p>
            <a:endParaRPr lang="en-US" altLang="ko-KR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E72B8D7-3769-3FAD-ECD5-D553AB5D5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23" y="2584376"/>
            <a:ext cx="10219154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80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Electric Vehicle System Modeling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Battery system modeling</a:t>
            </a:r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Liu,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Yuanzhi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and Jie Zhang. "Electric vehicle battery thermal and cabin climate management based on model predictive control."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Mechanical Design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143.3 (2021): 031705.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15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[2] Electric Vehicle Battery Thermal and Cabin Climate Management Based on Model Predictive Control</a:t>
            </a:r>
          </a:p>
          <a:p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B5D69EE-62AA-CC40-402F-8FA5A35A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64" y="1844761"/>
            <a:ext cx="5031634" cy="2710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77913D-9BEA-3BCC-0293-2595F6521C61}"/>
              </a:ext>
            </a:extLst>
          </p:cNvPr>
          <p:cNvSpPr txBox="1"/>
          <p:nvPr/>
        </p:nvSpPr>
        <p:spPr>
          <a:xfrm>
            <a:off x="5550590" y="2486744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배터리 열 모델링</a:t>
            </a:r>
            <a:endParaRPr lang="en-US" altLang="ko-KR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B9A5B6-6F25-9A8C-81E7-CC3003336F16}"/>
              </a:ext>
            </a:extLst>
          </p:cNvPr>
          <p:cNvSpPr txBox="1"/>
          <p:nvPr/>
        </p:nvSpPr>
        <p:spPr>
          <a:xfrm>
            <a:off x="5550590" y="4104414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배터리 </a:t>
            </a:r>
            <a:r>
              <a:rPr lang="en-US" altLang="ko-KR" sz="1200" b="1" dirty="0"/>
              <a:t>SOC </a:t>
            </a:r>
            <a:r>
              <a:rPr lang="ko-KR" altLang="en-US" sz="1200" b="1" dirty="0"/>
              <a:t>동역학</a:t>
            </a:r>
            <a:endParaRPr lang="en-US" altLang="ko-KR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4946709-661E-7B21-ECC8-964BB64E5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05" y="4797426"/>
            <a:ext cx="4996993" cy="1402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6C32B4-108B-7D6F-4954-2C571720B3D3}"/>
              </a:ext>
            </a:extLst>
          </p:cNvPr>
          <p:cNvSpPr txBox="1"/>
          <p:nvPr/>
        </p:nvSpPr>
        <p:spPr>
          <a:xfrm>
            <a:off x="5550590" y="5581405"/>
            <a:ext cx="2655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SOC</a:t>
            </a:r>
            <a:r>
              <a:rPr lang="ko-KR" altLang="en-US" sz="1200" b="1" dirty="0"/>
              <a:t>와 </a:t>
            </a:r>
            <a:r>
              <a:rPr lang="en-US" altLang="ko-KR" sz="1200" b="1" dirty="0"/>
              <a:t>OCV </a:t>
            </a:r>
            <a:r>
              <a:rPr lang="ko-KR" altLang="en-US" sz="1200" b="1" dirty="0"/>
              <a:t>관계를 </a:t>
            </a:r>
            <a:r>
              <a:rPr lang="en-US" altLang="ko-KR" sz="1200" b="1" dirty="0"/>
              <a:t>polynomial regression</a:t>
            </a:r>
            <a:r>
              <a:rPr lang="ko-KR" altLang="en-US" sz="1200" b="1" dirty="0"/>
              <a:t>으로 모델 추정</a:t>
            </a:r>
            <a:r>
              <a:rPr lang="en-US" altLang="ko-KR" sz="1200" b="1" dirty="0"/>
              <a:t> </a:t>
            </a:r>
            <a:endParaRPr lang="en-US" altLang="ko-KR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9971140-8580-07E4-24B4-BC1480C3C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293" y="3790093"/>
            <a:ext cx="4129746" cy="944759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E6D00DD-3873-799A-9025-0FB3EB7DD6FC}"/>
              </a:ext>
            </a:extLst>
          </p:cNvPr>
          <p:cNvCxnSpPr>
            <a:stCxn id="11" idx="3"/>
          </p:cNvCxnSpPr>
          <p:nvPr/>
        </p:nvCxnSpPr>
        <p:spPr>
          <a:xfrm flipV="1">
            <a:off x="8205806" y="4863023"/>
            <a:ext cx="1012085" cy="949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82B9478-2FA7-2789-086B-59E1981524DE}"/>
              </a:ext>
            </a:extLst>
          </p:cNvPr>
          <p:cNvSpPr txBox="1"/>
          <p:nvPr/>
        </p:nvSpPr>
        <p:spPr>
          <a:xfrm>
            <a:off x="8335300" y="5157399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배터리 </a:t>
            </a:r>
            <a:r>
              <a:rPr lang="en-US" altLang="ko-KR" sz="1200" b="1" dirty="0"/>
              <a:t>power </a:t>
            </a:r>
            <a:r>
              <a:rPr lang="ko-KR" altLang="en-US" sz="1200" b="1" dirty="0"/>
              <a:t>함수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18194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Electric Vehicle System Modeling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Battery Thermal-Fluid model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Dynamic Driving Model</a:t>
            </a:r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Liu,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Yuanzhi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and Jie Zhang. "Electric vehicle battery thermal and cabin climate management based on model predictive control."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Mechanical Design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143.3 (2021): 031705.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16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[2] Electric Vehicle Battery Thermal and Cabin Climate Management Based on Model Predictive Control</a:t>
            </a:r>
          </a:p>
          <a:p>
            <a:endParaRPr lang="en-US" altLang="ko-KR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D290A2-4796-C558-5B0B-E1F58BF0D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98" y="1773440"/>
            <a:ext cx="5649113" cy="9907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99CE07B-42A4-E2DC-A7E4-2557B7CF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292" y="3474973"/>
            <a:ext cx="4582086" cy="14013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DC9ECE-0E5B-F720-50F4-0DB26005B369}"/>
              </a:ext>
            </a:extLst>
          </p:cNvPr>
          <p:cNvSpPr txBox="1"/>
          <p:nvPr/>
        </p:nvSpPr>
        <p:spPr>
          <a:xfrm>
            <a:off x="7700368" y="3957746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차량 동역학의 기계적 </a:t>
            </a:r>
            <a:r>
              <a:rPr lang="en-US" altLang="ko-KR" sz="1200" b="1" dirty="0"/>
              <a:t>power</a:t>
            </a:r>
            <a:endParaRPr lang="en-US" altLang="ko-KR" sz="12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E35B260-53E0-9C3B-47CA-09067FBBF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217" y="5171453"/>
            <a:ext cx="4747419" cy="9526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D092690-8CB2-34B9-8802-691B7CDFE9FE}"/>
              </a:ext>
            </a:extLst>
          </p:cNvPr>
          <p:cNvSpPr txBox="1"/>
          <p:nvPr/>
        </p:nvSpPr>
        <p:spPr>
          <a:xfrm>
            <a:off x="7700368" y="5380560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회생제동에 의한 </a:t>
            </a:r>
            <a:r>
              <a:rPr lang="en-US" altLang="ko-KR" sz="1200" b="1" dirty="0"/>
              <a:t>braking power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701151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Electric Vehicle System Modeling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1800" b="0" i="0" u="none" strike="noStrike" baseline="0" dirty="0">
                <a:latin typeface="AdvOTd40fda3b.B"/>
              </a:rPr>
              <a:t>Air Conditioning System Model</a:t>
            </a:r>
          </a:p>
          <a:p>
            <a:endParaRPr lang="en-US" altLang="ko-KR" dirty="0">
              <a:latin typeface="AdvOTd40fda3b.B"/>
            </a:endParaRPr>
          </a:p>
          <a:p>
            <a:endParaRPr lang="en-US" altLang="ko-KR" dirty="0">
              <a:latin typeface="AdvOTd40fda3b.B"/>
            </a:endParaRPr>
          </a:p>
          <a:p>
            <a:endParaRPr lang="en-US" altLang="ko-KR" dirty="0">
              <a:latin typeface="AdvOTd40fda3b.B"/>
            </a:endParaRPr>
          </a:p>
          <a:p>
            <a:endParaRPr lang="en-US" altLang="ko-KR" dirty="0">
              <a:latin typeface="AdvOTd40fda3b.B"/>
            </a:endParaRPr>
          </a:p>
          <a:p>
            <a:endParaRPr lang="en-US" altLang="ko-KR" dirty="0">
              <a:latin typeface="AdvOTd40fda3b.B"/>
            </a:endParaRPr>
          </a:p>
          <a:p>
            <a:pPr lvl="1"/>
            <a:r>
              <a:rPr lang="en-US" altLang="ko-KR" dirty="0">
                <a:latin typeface="AdvOTd40fda3b.B"/>
              </a:rPr>
              <a:t>Heat conduction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Liu,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Yuanzhi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and Jie Zhang. "Electric vehicle battery thermal and cabin climate management based on model predictive control."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Mechanical Design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143.3 (2021): 031705.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17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[2] Electric Vehicle Battery Thermal and Cabin Climate Management Based on Model Predictive Control</a:t>
            </a:r>
          </a:p>
          <a:p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78CDD42-ECBA-1BD9-704A-E818919C4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575" y="1755952"/>
            <a:ext cx="5734850" cy="1695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74F212-F648-82D9-A69C-FF670C68689F}"/>
              </a:ext>
            </a:extLst>
          </p:cNvPr>
          <p:cNvSpPr txBox="1"/>
          <p:nvPr/>
        </p:nvSpPr>
        <p:spPr>
          <a:xfrm>
            <a:off x="8769409" y="2336783"/>
            <a:ext cx="2655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공조 시스템에서 소비한 </a:t>
            </a:r>
            <a:r>
              <a:rPr lang="en-US" altLang="ko-KR" sz="1200" b="1" dirty="0"/>
              <a:t>power</a:t>
            </a:r>
            <a:endParaRPr lang="en-US" altLang="ko-KR" sz="1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6C85F8-077E-017B-0AA0-7507746CC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745" y="3962667"/>
            <a:ext cx="2693126" cy="219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80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Electric Vehicle System Modeling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1800" b="0" i="0" u="none" strike="noStrike" baseline="0" dirty="0">
                <a:latin typeface="AdvOTd40fda3b.B"/>
              </a:rPr>
              <a:t>BTMS Energy Consumption Model (</a:t>
            </a:r>
            <a:r>
              <a:rPr lang="ko-KR" altLang="en-US" sz="1800" b="0" i="0" u="none" strike="noStrike" baseline="0" dirty="0">
                <a:latin typeface="AdvOTd40fda3b.B"/>
              </a:rPr>
              <a:t>배터리 열관리 시스템을 위한 </a:t>
            </a:r>
            <a:r>
              <a:rPr lang="en-US" altLang="ko-KR" sz="1800" b="0" i="0" u="none" strike="noStrike" baseline="0" dirty="0">
                <a:latin typeface="AdvOTd40fda3b.B"/>
              </a:rPr>
              <a:t>cooling system)</a:t>
            </a:r>
          </a:p>
          <a:p>
            <a:endParaRPr lang="en-US" altLang="ko-KR" dirty="0">
              <a:latin typeface="AdvOTd40fda3b.B"/>
            </a:endParaRPr>
          </a:p>
          <a:p>
            <a:endParaRPr lang="en-US" altLang="ko-KR" dirty="0">
              <a:latin typeface="AdvOTd40fda3b.B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Liu,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Yuanzhi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and Jie Zhang. "Electric vehicle battery thermal and cabin climate management based on model predictive control."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Mechanical Design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143.3 (2021): 031705.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18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[2] Electric Vehicle Battery Thermal and Cabin Climate Management Based on Model Predictive Control</a:t>
            </a:r>
          </a:p>
          <a:p>
            <a:endParaRPr lang="en-US" altLang="ko-KR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5911D6-A248-2D2F-97A4-B8866DBD4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378" y="1697070"/>
            <a:ext cx="5100916" cy="20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33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The Thermal Control Framework and Energy Management Strategy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1800" b="0" i="0" u="none" strike="noStrike" baseline="0" dirty="0">
                <a:latin typeface="AdvOTd40fda3b.B"/>
              </a:rPr>
              <a:t>BTMS Energy Consumption Model (</a:t>
            </a:r>
            <a:r>
              <a:rPr lang="ko-KR" altLang="en-US" sz="1800" b="0" i="0" u="none" strike="noStrike" baseline="0" dirty="0">
                <a:latin typeface="AdvOTd40fda3b.B"/>
              </a:rPr>
              <a:t>배터리 열관리 시스템을 위한 </a:t>
            </a:r>
            <a:r>
              <a:rPr lang="en-US" altLang="ko-KR" sz="1800" b="0" i="0" u="none" strike="noStrike" baseline="0" dirty="0">
                <a:latin typeface="AdvOTd40fda3b.B"/>
              </a:rPr>
              <a:t>cooling system)</a:t>
            </a:r>
          </a:p>
          <a:p>
            <a:endParaRPr lang="en-US" altLang="ko-KR" dirty="0">
              <a:latin typeface="AdvOTd40fda3b.B"/>
            </a:endParaRPr>
          </a:p>
          <a:p>
            <a:endParaRPr lang="en-US" altLang="ko-KR" dirty="0">
              <a:latin typeface="AdvOTd40fda3b.B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Liu,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Yuanzhi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and Jie Zhang. "Electric vehicle battery thermal and cabin climate management based on model predictive control." </a:t>
            </a:r>
            <a:r>
              <a:rPr lang="en-US" altLang="ko-KR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Mechanical Design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143.3 (2021): 031705.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19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dirty="0"/>
              <a:t>[2] Electric Vehicle Battery Thermal and Cabin Climate Management Based on Model Predictive Control</a:t>
            </a:r>
          </a:p>
          <a:p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AF7DF9-4A38-47B1-7C43-1A0D4A444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5" y="1928104"/>
            <a:ext cx="5601482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04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Discussion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>
                <a:latin typeface="AdvOTd40fda3b.B"/>
              </a:rPr>
              <a:t>시뮬레이션 환경 구축</a:t>
            </a:r>
            <a:endParaRPr lang="en-US" altLang="ko-KR" dirty="0">
              <a:latin typeface="AdvOTd40fda3b.B"/>
            </a:endParaRPr>
          </a:p>
          <a:p>
            <a:pPr lvl="1"/>
            <a:r>
              <a:rPr lang="en-US" altLang="ko-KR" dirty="0">
                <a:latin typeface="AdvOTd40fda3b.B"/>
              </a:rPr>
              <a:t>MATLAB/SIMULINK: BTMS + COMSOL </a:t>
            </a:r>
            <a:r>
              <a:rPr lang="ko-KR" altLang="en-US" dirty="0">
                <a:latin typeface="AdvOTd40fda3b.B"/>
              </a:rPr>
              <a:t>기반 배터리 모델</a:t>
            </a:r>
            <a:endParaRPr lang="en-US" altLang="ko-KR" dirty="0">
              <a:latin typeface="AdvOTd40fda3b.B"/>
            </a:endParaRPr>
          </a:p>
          <a:p>
            <a:pPr lvl="1"/>
            <a:r>
              <a:rPr lang="en-US" altLang="ko-KR" dirty="0">
                <a:latin typeface="AdvOTd40fda3b.B"/>
              </a:rPr>
              <a:t>BTMS </a:t>
            </a:r>
            <a:r>
              <a:rPr lang="ko-KR" altLang="en-US" dirty="0">
                <a:latin typeface="AdvOTd40fda3b.B"/>
              </a:rPr>
              <a:t>및 에너지 최적화 </a:t>
            </a:r>
            <a:r>
              <a:rPr lang="en-US" altLang="ko-KR" dirty="0">
                <a:latin typeface="AdvOTd40fda3b.B"/>
              </a:rPr>
              <a:t>(EV </a:t>
            </a:r>
            <a:r>
              <a:rPr lang="ko-KR" altLang="en-US" dirty="0">
                <a:latin typeface="AdvOTd40fda3b.B"/>
              </a:rPr>
              <a:t>또는 </a:t>
            </a:r>
            <a:r>
              <a:rPr lang="en-US" altLang="ko-KR" dirty="0">
                <a:latin typeface="AdvOTd40fda3b.B"/>
              </a:rPr>
              <a:t>HEV) </a:t>
            </a:r>
            <a:r>
              <a:rPr lang="ko-KR" altLang="en-US" dirty="0">
                <a:latin typeface="AdvOTd40fda3b.B"/>
              </a:rPr>
              <a:t>를 위한 문제 정의와 검증을 통합 시뮬레이션에서 구현</a:t>
            </a:r>
            <a:endParaRPr lang="en-US" altLang="ko-KR" dirty="0">
              <a:latin typeface="AdvOTd40fda3b.B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20</a:t>
            </a:fld>
            <a:endParaRPr lang="en-KR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1C637C0-75E2-3FAE-8AFB-A162A964DA4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FBEC41-0E88-FC0B-AE80-1FA778F39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04" y="2374989"/>
            <a:ext cx="3677355" cy="3871161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D9834651-C8B5-2808-0448-FC2D76DC8EB3}"/>
              </a:ext>
            </a:extLst>
          </p:cNvPr>
          <p:cNvSpPr/>
          <p:nvPr/>
        </p:nvSpPr>
        <p:spPr>
          <a:xfrm flipH="1">
            <a:off x="5064732" y="3717183"/>
            <a:ext cx="938904" cy="5725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900C2F1-2BBA-7255-D35C-1D7679CFD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46" y="3017636"/>
            <a:ext cx="5687658" cy="2289322"/>
          </a:xfrm>
          <a:prstGeom prst="rect">
            <a:avLst/>
          </a:prstGeom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CA62A86-8DF9-4CBC-2FEC-0E145A9669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427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30256</TotalTime>
  <Words>1645</Words>
  <Application>Microsoft Office PowerPoint</Application>
  <PresentationFormat>와이드스크린</PresentationFormat>
  <Paragraphs>209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AdvOTd40fda3b.B</vt:lpstr>
      <vt:lpstr>NanumBarunGothic</vt:lpstr>
      <vt:lpstr>나눔바른고딕</vt:lpstr>
      <vt:lpstr>Arial</vt:lpstr>
      <vt:lpstr>Times New Roman</vt:lpstr>
      <vt:lpstr>Wingdings</vt:lpstr>
      <vt:lpstr>Office Theme</vt:lpstr>
      <vt:lpstr>PowerPoint 프레젠테이션</vt:lpstr>
      <vt:lpstr>PowerPoint 프레젠테이션</vt:lpstr>
      <vt:lpstr>Main Contributions</vt:lpstr>
      <vt:lpstr>Main Contributions</vt:lpstr>
      <vt:lpstr>Main Contributions</vt:lpstr>
      <vt:lpstr>Main Contributions</vt:lpstr>
      <vt:lpstr>Energy consumption and thermal model</vt:lpstr>
      <vt:lpstr>Energy consumption and thermal model</vt:lpstr>
      <vt:lpstr>Energy consumption and thermal model</vt:lpstr>
      <vt:lpstr>Energy consumption and thermal model</vt:lpstr>
      <vt:lpstr>Energy consumption and thermal model</vt:lpstr>
      <vt:lpstr>Energy consumption and thermal model</vt:lpstr>
      <vt:lpstr>Energy consumption and thermal model</vt:lpstr>
      <vt:lpstr>Main Contributions</vt:lpstr>
      <vt:lpstr>Electric Vehicle System Modeling</vt:lpstr>
      <vt:lpstr>Electric Vehicle System Modeling</vt:lpstr>
      <vt:lpstr>Electric Vehicle System Modeling</vt:lpstr>
      <vt:lpstr>Electric Vehicle System Modeling</vt:lpstr>
      <vt:lpstr>The Thermal Control Framework and Energy Management Strategy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띵</dc:creator>
  <cp:lastModifiedBy>Seunghun Jang</cp:lastModifiedBy>
  <cp:revision>306</cp:revision>
  <dcterms:created xsi:type="dcterms:W3CDTF">2024-10-18T07:32:01Z</dcterms:created>
  <dcterms:modified xsi:type="dcterms:W3CDTF">2025-07-18T00:53:40Z</dcterms:modified>
</cp:coreProperties>
</file>