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4" r:id="rId4"/>
    <p:sldId id="258" r:id="rId5"/>
    <p:sldId id="259" r:id="rId6"/>
    <p:sldId id="260" r:id="rId7"/>
    <p:sldId id="263" r:id="rId8"/>
    <p:sldId id="261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unghun Jang" userId="3fc171b04cfc4c4d" providerId="LiveId" clId="{5BA643DA-1195-4DF4-B804-0E52D8FDAEA1}"/>
    <pc:docChg chg="custSel addSld modSld">
      <pc:chgData name="Seunghun Jang" userId="3fc171b04cfc4c4d" providerId="LiveId" clId="{5BA643DA-1195-4DF4-B804-0E52D8FDAEA1}" dt="2025-11-21T04:57:31.683" v="160" actId="20577"/>
      <pc:docMkLst>
        <pc:docMk/>
      </pc:docMkLst>
      <pc:sldChg chg="addSp delSp modSp new mod">
        <pc:chgData name="Seunghun Jang" userId="3fc171b04cfc4c4d" providerId="LiveId" clId="{5BA643DA-1195-4DF4-B804-0E52D8FDAEA1}" dt="2025-11-21T04:57:31.683" v="160" actId="20577"/>
        <pc:sldMkLst>
          <pc:docMk/>
          <pc:sldMk cId="3751310236" sldId="264"/>
        </pc:sldMkLst>
        <pc:spChg chg="del">
          <ac:chgData name="Seunghun Jang" userId="3fc171b04cfc4c4d" providerId="LiveId" clId="{5BA643DA-1195-4DF4-B804-0E52D8FDAEA1}" dt="2025-11-21T04:56:03.139" v="2" actId="478"/>
          <ac:spMkLst>
            <pc:docMk/>
            <pc:sldMk cId="3751310236" sldId="264"/>
            <ac:spMk id="2" creationId="{E591D975-7BEE-7296-1015-81C04E00C70D}"/>
          </ac:spMkLst>
        </pc:spChg>
        <pc:spChg chg="del">
          <ac:chgData name="Seunghun Jang" userId="3fc171b04cfc4c4d" providerId="LiveId" clId="{5BA643DA-1195-4DF4-B804-0E52D8FDAEA1}" dt="2025-11-21T04:56:02.271" v="1" actId="478"/>
          <ac:spMkLst>
            <pc:docMk/>
            <pc:sldMk cId="3751310236" sldId="264"/>
            <ac:spMk id="3" creationId="{3F7B497D-0FAE-9520-6782-6841C2906DF4}"/>
          </ac:spMkLst>
        </pc:spChg>
        <pc:spChg chg="add mod">
          <ac:chgData name="Seunghun Jang" userId="3fc171b04cfc4c4d" providerId="LiveId" clId="{5BA643DA-1195-4DF4-B804-0E52D8FDAEA1}" dt="2025-11-21T04:56:54.310" v="56" actId="1076"/>
          <ac:spMkLst>
            <pc:docMk/>
            <pc:sldMk cId="3751310236" sldId="264"/>
            <ac:spMk id="5" creationId="{D4600EAC-F3DD-C1AE-CEFC-10AACC343D0B}"/>
          </ac:spMkLst>
        </pc:spChg>
        <pc:spChg chg="add mod">
          <ac:chgData name="Seunghun Jang" userId="3fc171b04cfc4c4d" providerId="LiveId" clId="{5BA643DA-1195-4DF4-B804-0E52D8FDAEA1}" dt="2025-11-21T04:57:09.469" v="84" actId="1076"/>
          <ac:spMkLst>
            <pc:docMk/>
            <pc:sldMk cId="3751310236" sldId="264"/>
            <ac:spMk id="6" creationId="{E0F42CBB-D9A1-BFE4-E38F-EB00CFFB91C7}"/>
          </ac:spMkLst>
        </pc:spChg>
        <pc:spChg chg="add mod">
          <ac:chgData name="Seunghun Jang" userId="3fc171b04cfc4c4d" providerId="LiveId" clId="{5BA643DA-1195-4DF4-B804-0E52D8FDAEA1}" dt="2025-11-21T04:57:31.683" v="160" actId="20577"/>
          <ac:spMkLst>
            <pc:docMk/>
            <pc:sldMk cId="3751310236" sldId="264"/>
            <ac:spMk id="7" creationId="{3278B990-0DF4-3241-CB93-CFAB2A564431}"/>
          </ac:spMkLst>
        </pc:spChg>
        <pc:picChg chg="add mod">
          <ac:chgData name="Seunghun Jang" userId="3fc171b04cfc4c4d" providerId="LiveId" clId="{5BA643DA-1195-4DF4-B804-0E52D8FDAEA1}" dt="2025-11-21T04:56:29.771" v="4" actId="1076"/>
          <ac:picMkLst>
            <pc:docMk/>
            <pc:sldMk cId="3751310236" sldId="264"/>
            <ac:picMk id="4" creationId="{BB64CD9F-FC60-6402-8859-1602DE723E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41B9F-BBA2-A768-7C87-24655C16C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5D65F5-16E9-DEB1-9106-B8A9D9235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64AB4-2FE8-0387-6CDD-5C8199F8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86E9B1-5B6B-EDD5-2264-F2EE3AF9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D7526-FB88-4ED8-A1C3-31A738E6B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921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ABB0C-614A-274F-B323-932BAFCD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EAC07-BBA3-4533-0162-800F74482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B7AD84-4C94-8217-23F1-964EC17C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26F5A3-9A25-4B03-E6FF-B866B2F18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171395-7388-5C16-F9CE-C8454751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551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8E9CA5-5B73-AD9A-E66A-1468CF02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720F52-A7D6-013D-7C8C-CE6037D1A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4E6534-6A2B-5CBF-4272-5E620DFD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4CDED9-07D2-40F2-39B4-08471BF7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6D56E3-26DE-7E54-A04F-20B7BAD47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786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31ECB-C6FB-F2B0-7A0F-09F3BCFB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58BDF6-0486-ED6F-1EF2-064BC9ADF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D8E1C2-FE26-5C89-5072-D0528B603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D80CB9-BC6F-9DAE-4C39-3959EF8CA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C81456-8449-7B55-52A3-CA3D573AA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CAFC5E-16D8-2013-77A5-48D672C7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9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D792DD-74B5-24F3-0098-38A453A6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2A2247-7E98-BBFA-6249-E26338073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CD2712-B6F1-693C-9946-49C62A612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C82B2D-36D0-675F-EF2F-4DCD5A5C8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C1A619-80FF-F97A-8FAE-78D984267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B1519D-E0B6-95BC-B098-3A66F11B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F6EF89-443A-22EB-4526-037386AD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CD233F-7EA7-E89F-B0EF-8F3962B8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55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9F39D-8518-8850-F1BD-381B0CAC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67A312-F046-611E-BFCA-B0FBAB8F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5CDEC1-3E6B-5881-4348-72358D443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87901E-264B-3E5D-BCD8-D4E219FF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36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2E4F76-1047-C47F-4187-24E09845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E77DEC-057F-C5C5-CD85-CC3B1E5FC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CF565A-353D-4D56-17D1-DACC4BE6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18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99287-2D36-485D-0B4B-EAEE8A019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73475-94C9-FAC9-F77B-9C7CEF55E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5F25FF-674F-5492-F12A-4AA1E6CB6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0C84C4-F12C-B128-23EE-6BA14627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390CA-C674-C11D-78CF-89E5D0DCC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B23C25-5EA5-D82A-B6D7-2B5FAA3B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205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BA292-AA89-CFC6-4379-CBFC1B9FD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A7B458-92B0-171D-E130-CAE88F483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F5F422-FAF4-7770-47AB-5CED5B99E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3998-F6D0-AEB8-ADD6-5F43DE673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3A1BE4-CF50-869F-BE0C-5954CBCF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FE7753-B4E0-8039-5130-781A8E87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565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30822-FC69-9051-253D-085304070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B1568-A8A6-4869-2D59-9DF798724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DC79AD-0199-CB37-3FFE-D1096B65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5328A-3BDC-A984-1C70-89C30961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4D52A-7CD1-51B6-1174-0EF23F7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139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014275-0951-E95B-8FA0-C7F433E60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A4F6EA-1602-BDFD-46E6-554768D0A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FFB361-0530-AFA6-7A30-CAC0E55E0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2E7CFF-626B-06C1-BE01-7DF908B3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20C5C-D726-B7EA-5592-08EED6E0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87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67C0B8-7341-E272-FBC5-7698D568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276ED6-DB52-D465-28FE-C4B6A8AC9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00193-531F-2FBB-7069-B2E0DACB5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2D488-E923-48EB-A6AD-A0C8BC550B0E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32FD6-9F42-0CAB-D40F-DDE7DB355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F4FCC2-99D1-AB4D-251C-BAAD060BE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7735E-E638-4225-B80C-DDBABE737C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2AA3C6-488C-30E1-42DD-4376D479621E}"/>
              </a:ext>
            </a:extLst>
          </p:cNvPr>
          <p:cNvSpPr txBox="1"/>
          <p:nvPr/>
        </p:nvSpPr>
        <p:spPr>
          <a:xfrm>
            <a:off x="418010" y="720635"/>
            <a:ext cx="6528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배터리 </a:t>
            </a:r>
            <a:r>
              <a:rPr lang="ko-KR" altLang="en-US" sz="2000"/>
              <a:t>열화 모델을 고려한 </a:t>
            </a:r>
            <a:r>
              <a:rPr lang="en-US" altLang="ko-KR" sz="2000" dirty="0"/>
              <a:t>HEV</a:t>
            </a:r>
            <a:r>
              <a:rPr lang="ko-KR" altLang="en-US" sz="2000" dirty="0"/>
              <a:t> 시뮬레이션 </a:t>
            </a:r>
            <a:r>
              <a:rPr lang="ko-KR" altLang="en-US" sz="2000" dirty="0" err="1"/>
              <a:t>아키텍쳐</a:t>
            </a:r>
            <a:endParaRPr lang="ko-KR" altLang="en-US" sz="2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C8C186-AB52-106B-DA1D-B5FF694D4D8E}"/>
              </a:ext>
            </a:extLst>
          </p:cNvPr>
          <p:cNvSpPr/>
          <p:nvPr/>
        </p:nvSpPr>
        <p:spPr>
          <a:xfrm>
            <a:off x="338876" y="2548082"/>
            <a:ext cx="3074126" cy="25954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672AE3-7CC9-CF74-6FB0-1677B2C12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11" y="3027705"/>
            <a:ext cx="2403855" cy="7918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7FC6274-2BB7-FB77-0EDB-72156E089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70" y="4035017"/>
            <a:ext cx="2835338" cy="777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77A92A-B78D-17FB-84E3-FFF8379B85D8}"/>
              </a:ext>
            </a:extLst>
          </p:cNvPr>
          <p:cNvSpPr txBox="1"/>
          <p:nvPr/>
        </p:nvSpPr>
        <p:spPr>
          <a:xfrm>
            <a:off x="1395496" y="4809078"/>
            <a:ext cx="1053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Solver 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032007-638B-76B1-CEA0-B4E9C34B06D5}"/>
              </a:ext>
            </a:extLst>
          </p:cNvPr>
          <p:cNvSpPr txBox="1"/>
          <p:nvPr/>
        </p:nvSpPr>
        <p:spPr>
          <a:xfrm>
            <a:off x="508230" y="2609018"/>
            <a:ext cx="2908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/>
              <a:t>doyle-fuller-newman</a:t>
            </a:r>
            <a:r>
              <a:rPr lang="ko-KR" altLang="en-US" sz="1600" dirty="0"/>
              <a:t> (DFN)</a:t>
            </a:r>
          </a:p>
          <a:p>
            <a:pPr algn="ctr"/>
            <a:r>
              <a:rPr lang="en-US" altLang="ko-KR" sz="1600" dirty="0"/>
              <a:t>Battery model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854198-7AEE-9731-6858-F3FE1DC1BE1F}"/>
              </a:ext>
            </a:extLst>
          </p:cNvPr>
          <p:cNvSpPr txBox="1"/>
          <p:nvPr/>
        </p:nvSpPr>
        <p:spPr>
          <a:xfrm>
            <a:off x="1405278" y="2090566"/>
            <a:ext cx="101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Python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7C42656-925E-9BDB-828D-303FAD1182D9}"/>
              </a:ext>
            </a:extLst>
          </p:cNvPr>
          <p:cNvCxnSpPr/>
          <p:nvPr/>
        </p:nvCxnSpPr>
        <p:spPr>
          <a:xfrm>
            <a:off x="3529643" y="3823280"/>
            <a:ext cx="63572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3C2D6FB-4350-B66D-BF63-36692D1F4748}"/>
              </a:ext>
            </a:extLst>
          </p:cNvPr>
          <p:cNvSpPr txBox="1"/>
          <p:nvPr/>
        </p:nvSpPr>
        <p:spPr>
          <a:xfrm>
            <a:off x="3339111" y="3402823"/>
            <a:ext cx="1010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A53B7-19A6-FB11-5254-51DB27CD21B5}"/>
              </a:ext>
            </a:extLst>
          </p:cNvPr>
          <p:cNvSpPr txBox="1"/>
          <p:nvPr/>
        </p:nvSpPr>
        <p:spPr>
          <a:xfrm>
            <a:off x="7233715" y="2094499"/>
            <a:ext cx="2298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Matlab</a:t>
            </a:r>
            <a:r>
              <a:rPr lang="en-US" altLang="ko-KR" dirty="0"/>
              <a:t>/Simulink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7E750F-9BA2-A4B3-BA14-2AABD5255A25}"/>
              </a:ext>
            </a:extLst>
          </p:cNvPr>
          <p:cNvSpPr txBox="1"/>
          <p:nvPr/>
        </p:nvSpPr>
        <p:spPr>
          <a:xfrm>
            <a:off x="9773659" y="101799"/>
            <a:ext cx="22982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Version </a:t>
            </a:r>
          </a:p>
          <a:p>
            <a:pPr algn="ctr"/>
            <a:r>
              <a:rPr lang="en-US" altLang="ko-KR" dirty="0"/>
              <a:t>Casadi-3.6.7</a:t>
            </a:r>
          </a:p>
          <a:p>
            <a:pPr algn="ctr"/>
            <a:r>
              <a:rPr lang="en-US" altLang="ko-KR" dirty="0"/>
              <a:t>Pybamm-3.6.7</a:t>
            </a:r>
          </a:p>
          <a:p>
            <a:pPr algn="ctr"/>
            <a:r>
              <a:rPr lang="en-US" altLang="ko-KR" dirty="0"/>
              <a:t>Python-3.9</a:t>
            </a:r>
          </a:p>
          <a:p>
            <a:pPr algn="ctr"/>
            <a:r>
              <a:rPr lang="en-US" altLang="ko-KR" dirty="0"/>
              <a:t>Matlab-2024b</a:t>
            </a:r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E8E534C-4D0A-525B-6070-90841D66ECED}"/>
              </a:ext>
            </a:extLst>
          </p:cNvPr>
          <p:cNvCxnSpPr>
            <a:cxnSpLocks/>
          </p:cNvCxnSpPr>
          <p:nvPr/>
        </p:nvCxnSpPr>
        <p:spPr>
          <a:xfrm flipV="1">
            <a:off x="1981034" y="3679621"/>
            <a:ext cx="0" cy="27801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E44FE269-6450-B5CE-97F9-BC715006B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162" y="3063879"/>
            <a:ext cx="3275305" cy="174519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1F5ED3-A31E-DDCA-E9C8-DCDCE126E32A}"/>
              </a:ext>
            </a:extLst>
          </p:cNvPr>
          <p:cNvSpPr/>
          <p:nvPr/>
        </p:nvSpPr>
        <p:spPr>
          <a:xfrm>
            <a:off x="4347872" y="2496352"/>
            <a:ext cx="7533556" cy="26471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83230E6-E2CA-9DB4-9B19-6F7FB4F29F7E}"/>
              </a:ext>
            </a:extLst>
          </p:cNvPr>
          <p:cNvSpPr/>
          <p:nvPr/>
        </p:nvSpPr>
        <p:spPr>
          <a:xfrm>
            <a:off x="5586714" y="3324073"/>
            <a:ext cx="1085404" cy="8218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BA43A0-629B-F855-3C44-F24DB35410AA}"/>
              </a:ext>
            </a:extLst>
          </p:cNvPr>
          <p:cNvSpPr/>
          <p:nvPr/>
        </p:nvSpPr>
        <p:spPr>
          <a:xfrm>
            <a:off x="4600632" y="2926773"/>
            <a:ext cx="3456942" cy="2072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714EFDB-8F45-F2E6-BC69-FE4E70F09399}"/>
              </a:ext>
            </a:extLst>
          </p:cNvPr>
          <p:cNvSpPr/>
          <p:nvPr/>
        </p:nvSpPr>
        <p:spPr>
          <a:xfrm>
            <a:off x="8681338" y="2926773"/>
            <a:ext cx="3091562" cy="2072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CD2D3EF2-D889-7758-608B-F12F3FE9695A}"/>
              </a:ext>
            </a:extLst>
          </p:cNvPr>
          <p:cNvSpPr/>
          <p:nvPr/>
        </p:nvSpPr>
        <p:spPr>
          <a:xfrm>
            <a:off x="3276600" y="2865685"/>
            <a:ext cx="2336800" cy="614115"/>
          </a:xfrm>
          <a:custGeom>
            <a:avLst/>
            <a:gdLst>
              <a:gd name="connsiteX0" fmla="*/ 0 w 2540000"/>
              <a:gd name="connsiteY0" fmla="*/ 385515 h 614115"/>
              <a:gd name="connsiteX1" fmla="*/ 952500 w 2540000"/>
              <a:gd name="connsiteY1" fmla="*/ 4515 h 614115"/>
              <a:gd name="connsiteX2" fmla="*/ 2540000 w 2540000"/>
              <a:gd name="connsiteY2" fmla="*/ 614115 h 614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40000" h="614115">
                <a:moveTo>
                  <a:pt x="0" y="385515"/>
                </a:moveTo>
                <a:cubicBezTo>
                  <a:pt x="264583" y="175965"/>
                  <a:pt x="529167" y="-33585"/>
                  <a:pt x="952500" y="4515"/>
                </a:cubicBezTo>
                <a:cubicBezTo>
                  <a:pt x="1375833" y="42615"/>
                  <a:pt x="2540000" y="614115"/>
                  <a:pt x="2540000" y="614115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DDD913B-C31A-9128-A63B-45D8F753B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2185" y="3364365"/>
            <a:ext cx="2704250" cy="123422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B09627E-CA35-13E8-5477-1B22ED2BFB2E}"/>
              </a:ext>
            </a:extLst>
          </p:cNvPr>
          <p:cNvSpPr txBox="1"/>
          <p:nvPr/>
        </p:nvSpPr>
        <p:spPr>
          <a:xfrm>
            <a:off x="9065175" y="2496353"/>
            <a:ext cx="2298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HEV application</a:t>
            </a:r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6A7564D-B474-DC34-0CAE-1D5E0806F279}"/>
              </a:ext>
            </a:extLst>
          </p:cNvPr>
          <p:cNvSpPr/>
          <p:nvPr/>
        </p:nvSpPr>
        <p:spPr>
          <a:xfrm>
            <a:off x="10232062" y="3733800"/>
            <a:ext cx="829638" cy="5391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41C4BB-1FFA-D39B-6C0C-B22DD5D2C08A}"/>
              </a:ext>
            </a:extLst>
          </p:cNvPr>
          <p:cNvSpPr txBox="1"/>
          <p:nvPr/>
        </p:nvSpPr>
        <p:spPr>
          <a:xfrm>
            <a:off x="4474650" y="2453557"/>
            <a:ext cx="3369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Battery degradation model</a:t>
            </a:r>
            <a:endParaRPr lang="ko-KR" altLang="en-US" dirty="0"/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01BFFCEB-854E-95EE-F838-3129E5C2FA1C}"/>
              </a:ext>
            </a:extLst>
          </p:cNvPr>
          <p:cNvSpPr/>
          <p:nvPr/>
        </p:nvSpPr>
        <p:spPr>
          <a:xfrm>
            <a:off x="8167712" y="3762054"/>
            <a:ext cx="430276" cy="39116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1AEB3D-9B27-CDC7-9E6E-73D9D4B02B77}"/>
              </a:ext>
            </a:extLst>
          </p:cNvPr>
          <p:cNvSpPr txBox="1"/>
          <p:nvPr/>
        </p:nvSpPr>
        <p:spPr>
          <a:xfrm>
            <a:off x="8828911" y="5204587"/>
            <a:ext cx="2796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Powertrain </a:t>
            </a:r>
            <a:r>
              <a:rPr lang="ko-KR" altLang="en-US" dirty="0"/>
              <a:t>부분과 제어기는 아직 </a:t>
            </a:r>
            <a:r>
              <a:rPr lang="ko-KR" altLang="en-US" dirty="0" err="1"/>
              <a:t>미구현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B024E0E-6B73-2AF3-A424-47F94773D2CD}"/>
              </a:ext>
            </a:extLst>
          </p:cNvPr>
          <p:cNvCxnSpPr>
            <a:stCxn id="22" idx="0"/>
          </p:cNvCxnSpPr>
          <p:nvPr/>
        </p:nvCxnSpPr>
        <p:spPr>
          <a:xfrm>
            <a:off x="8114650" y="2496352"/>
            <a:ext cx="0" cy="37774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729968-3164-8BEE-49F8-E8F17A010776}"/>
              </a:ext>
            </a:extLst>
          </p:cNvPr>
          <p:cNvSpPr txBox="1"/>
          <p:nvPr/>
        </p:nvSpPr>
        <p:spPr>
          <a:xfrm>
            <a:off x="4725325" y="5525532"/>
            <a:ext cx="279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현재 구현 상태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E66C8C-F26B-2B02-EED4-4298B5449AE0}"/>
              </a:ext>
            </a:extLst>
          </p:cNvPr>
          <p:cNvSpPr txBox="1"/>
          <p:nvPr/>
        </p:nvSpPr>
        <p:spPr>
          <a:xfrm>
            <a:off x="8862978" y="5832871"/>
            <a:ext cx="2796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제어를 위해서 김동민 박사님이 준 </a:t>
            </a:r>
            <a:r>
              <a:rPr lang="en-US" altLang="ko-KR" dirty="0"/>
              <a:t>surrogate </a:t>
            </a:r>
            <a:r>
              <a:rPr lang="ko-KR" altLang="en-US" dirty="0"/>
              <a:t>모델 들어갈 예정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7BFFD3A-4959-39D8-05D4-7CDD5D5B1D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3418" y="5586620"/>
            <a:ext cx="1542463" cy="107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4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8D895500-366E-5D7E-E0BB-786C3733F698}"/>
              </a:ext>
            </a:extLst>
          </p:cNvPr>
          <p:cNvSpPr txBox="1"/>
          <p:nvPr/>
        </p:nvSpPr>
        <p:spPr>
          <a:xfrm>
            <a:off x="418011" y="720635"/>
            <a:ext cx="5869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배터리 열화 모델</a:t>
            </a:r>
            <a:r>
              <a:rPr lang="en-US" altLang="ko-KR" sz="2000" dirty="0"/>
              <a:t>- Simulink / </a:t>
            </a:r>
            <a:r>
              <a:rPr lang="ko-KR" altLang="en-US" sz="2000" dirty="0"/>
              <a:t>주기 </a:t>
            </a:r>
            <a:r>
              <a:rPr lang="en-US" altLang="ko-KR" sz="2000" dirty="0"/>
              <a:t>0.5s</a:t>
            </a:r>
            <a:endParaRPr lang="ko-KR" altLang="en-US" sz="2000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74ACB468-BFCE-488F-B52C-5D26DB0B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10" y="2050584"/>
            <a:ext cx="6140940" cy="3550006"/>
          </a:xfrm>
          <a:prstGeom prst="rect">
            <a:avLst/>
          </a:prstGeom>
        </p:spPr>
      </p:pic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45CFC98C-5D24-9876-FF3D-5A7B8B331502}"/>
              </a:ext>
            </a:extLst>
          </p:cNvPr>
          <p:cNvSpPr/>
          <p:nvPr/>
        </p:nvSpPr>
        <p:spPr>
          <a:xfrm>
            <a:off x="6788150" y="3524250"/>
            <a:ext cx="774700" cy="49530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F2F629-2A92-66BE-3AE7-59C9CA00F690}"/>
              </a:ext>
            </a:extLst>
          </p:cNvPr>
          <p:cNvSpPr txBox="1"/>
          <p:nvPr/>
        </p:nvSpPr>
        <p:spPr>
          <a:xfrm>
            <a:off x="8458200" y="1190913"/>
            <a:ext cx="187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OCV(P), &lt;- negative particle surface concentration</a:t>
            </a:r>
          </a:p>
          <a:p>
            <a:r>
              <a:rPr lang="en-US" altLang="ko-KR" dirty="0"/>
              <a:t>positive particle surface concentration 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2FFA91-81D8-FEEB-F73D-7DF9CC4E52C4}"/>
              </a:ext>
            </a:extLst>
          </p:cNvPr>
          <p:cNvSpPr txBox="1"/>
          <p:nvPr/>
        </p:nvSpPr>
        <p:spPr>
          <a:xfrm>
            <a:off x="8458200" y="377211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입자 표면 리튬 농도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1ABC97-ECF4-2DB9-A133-4857F57FEB5D}"/>
              </a:ext>
            </a:extLst>
          </p:cNvPr>
          <p:cNvSpPr txBox="1"/>
          <p:nvPr/>
        </p:nvSpPr>
        <p:spPr>
          <a:xfrm>
            <a:off x="8359510" y="3825587"/>
            <a:ext cx="3162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R_0 Internal</a:t>
            </a:r>
            <a:r>
              <a:rPr lang="ko-KR" altLang="en-US" dirty="0"/>
              <a:t> </a:t>
            </a:r>
            <a:r>
              <a:rPr lang="en-US" altLang="ko-KR" dirty="0"/>
              <a:t>resistance</a:t>
            </a:r>
          </a:p>
          <a:p>
            <a:r>
              <a:rPr lang="en-US" altLang="ko-KR" dirty="0"/>
              <a:t>Q Heating (heat flux)</a:t>
            </a:r>
          </a:p>
          <a:p>
            <a:r>
              <a:rPr lang="en-US" altLang="ko-KR" dirty="0"/>
              <a:t>Discharged capacity -&gt; SOH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DEF410-0D29-F9E7-ADB1-A966BE85D221}"/>
              </a:ext>
            </a:extLst>
          </p:cNvPr>
          <p:cNvSpPr txBox="1"/>
          <p:nvPr/>
        </p:nvSpPr>
        <p:spPr>
          <a:xfrm>
            <a:off x="891930" y="1812231"/>
            <a:ext cx="2292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Battery temperature</a:t>
            </a:r>
            <a:endParaRPr lang="ko-KR" altLang="en-US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526D529-32ED-740A-1704-1684B16F26C1}"/>
              </a:ext>
            </a:extLst>
          </p:cNvPr>
          <p:cNvSpPr/>
          <p:nvPr/>
        </p:nvSpPr>
        <p:spPr>
          <a:xfrm>
            <a:off x="803010" y="2206574"/>
            <a:ext cx="2613290" cy="13176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319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B64CD9F-FC60-6402-8859-1602DE723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00" y="959743"/>
            <a:ext cx="7506748" cy="34580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600EAC-F3DD-C1AE-CEFC-10AACC343D0B}"/>
              </a:ext>
            </a:extLst>
          </p:cNvPr>
          <p:cNvSpPr txBox="1"/>
          <p:nvPr/>
        </p:nvSpPr>
        <p:spPr>
          <a:xfrm>
            <a:off x="6974848" y="3172444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응력기반 </a:t>
            </a:r>
            <a:r>
              <a:rPr lang="ko-KR" altLang="en-US" dirty="0" err="1"/>
              <a:t>활물질</a:t>
            </a:r>
            <a:r>
              <a:rPr lang="ko-KR" altLang="en-US" dirty="0"/>
              <a:t> 손실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F42CBB-D9A1-BFE4-E38F-EB00CFFB91C7}"/>
              </a:ext>
            </a:extLst>
          </p:cNvPr>
          <p:cNvSpPr txBox="1"/>
          <p:nvPr/>
        </p:nvSpPr>
        <p:spPr>
          <a:xfrm>
            <a:off x="7105477" y="3541776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가역 </a:t>
            </a:r>
            <a:r>
              <a:rPr lang="ko-KR" altLang="en-US" dirty="0" err="1"/>
              <a:t>비가역</a:t>
            </a:r>
            <a:r>
              <a:rPr lang="ko-KR" altLang="en-US" dirty="0"/>
              <a:t> 리튬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8B990-0DF4-3241-CB93-CFAB2A564431}"/>
              </a:ext>
            </a:extLst>
          </p:cNvPr>
          <p:cNvSpPr txBox="1"/>
          <p:nvPr/>
        </p:nvSpPr>
        <p:spPr>
          <a:xfrm>
            <a:off x="7105477" y="2803112"/>
            <a:ext cx="4666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전기화학반응에 의한 전해질 분해 반응속도</a:t>
            </a:r>
          </a:p>
        </p:txBody>
      </p:sp>
    </p:spTree>
    <p:extLst>
      <p:ext uri="{BB962C8B-B14F-4D97-AF65-F5344CB8AC3E}">
        <p14:creationId xmlns:p14="http://schemas.microsoft.com/office/powerpoint/2010/main" val="375131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397DFEF-A005-4E03-D0D5-572C63A0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550" y="2430483"/>
            <a:ext cx="8327300" cy="4037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2CEB91-437D-003F-2B2B-FD3BF36A9B1D}"/>
              </a:ext>
            </a:extLst>
          </p:cNvPr>
          <p:cNvSpPr txBox="1"/>
          <p:nvPr/>
        </p:nvSpPr>
        <p:spPr>
          <a:xfrm>
            <a:off x="418010" y="720635"/>
            <a:ext cx="730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배터리 충</a:t>
            </a:r>
            <a:r>
              <a:rPr lang="en-US" altLang="ko-KR" sz="2000" dirty="0"/>
              <a:t>,</a:t>
            </a:r>
            <a:r>
              <a:rPr lang="ko-KR" altLang="en-US" sz="2000" dirty="0"/>
              <a:t>방전 사이클에 따른 배터리 내부 정보 변화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71C8B-5212-0F98-67F3-0144A93EA857}"/>
              </a:ext>
            </a:extLst>
          </p:cNvPr>
          <p:cNvSpPr txBox="1"/>
          <p:nvPr/>
        </p:nvSpPr>
        <p:spPr>
          <a:xfrm>
            <a:off x="3859740" y="5693934"/>
            <a:ext cx="207697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Internal</a:t>
            </a:r>
            <a:r>
              <a:rPr lang="ko-KR" altLang="en-US" dirty="0"/>
              <a:t> </a:t>
            </a:r>
            <a:r>
              <a:rPr lang="en-US" altLang="ko-KR" dirty="0"/>
              <a:t>resistance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634A3-9163-24AE-9BA1-C758F4B811D1}"/>
              </a:ext>
            </a:extLst>
          </p:cNvPr>
          <p:cNvSpPr txBox="1"/>
          <p:nvPr/>
        </p:nvSpPr>
        <p:spPr>
          <a:xfrm>
            <a:off x="6666570" y="5692424"/>
            <a:ext cx="215873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particle surface concentration</a:t>
            </a:r>
          </a:p>
          <a:p>
            <a:r>
              <a:rPr lang="en-US" altLang="ko-KR" dirty="0"/>
              <a:t>positive particle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FF7F9-AF55-28B1-F75D-D9B33D1FDF5B}"/>
              </a:ext>
            </a:extLst>
          </p:cNvPr>
          <p:cNvSpPr txBox="1"/>
          <p:nvPr/>
        </p:nvSpPr>
        <p:spPr>
          <a:xfrm>
            <a:off x="6666570" y="2522394"/>
            <a:ext cx="215873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particle surface concentration</a:t>
            </a:r>
          </a:p>
          <a:p>
            <a:r>
              <a:rPr lang="en-US" altLang="ko-KR" dirty="0"/>
              <a:t>negative particle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27415-DF98-0081-627B-E925DE788503}"/>
              </a:ext>
            </a:extLst>
          </p:cNvPr>
          <p:cNvSpPr txBox="1"/>
          <p:nvPr/>
        </p:nvSpPr>
        <p:spPr>
          <a:xfrm>
            <a:off x="3743073" y="2237953"/>
            <a:ext cx="231031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Open circuit voltage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19B339-77FA-7C03-C4D4-14F153C80AF1}"/>
              </a:ext>
            </a:extLst>
          </p:cNvPr>
          <p:cNvSpPr txBox="1"/>
          <p:nvPr/>
        </p:nvSpPr>
        <p:spPr>
          <a:xfrm>
            <a:off x="9314685" y="5693934"/>
            <a:ext cx="229229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Battery temperature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5F72AC7-CF15-CC24-D15A-0F03BFAA83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913"/>
          <a:stretch/>
        </p:blipFill>
        <p:spPr>
          <a:xfrm>
            <a:off x="241042" y="3165481"/>
            <a:ext cx="2434657" cy="25269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05A927-E1E2-AB7E-2793-DE1E62488822}"/>
              </a:ext>
            </a:extLst>
          </p:cNvPr>
          <p:cNvSpPr txBox="1"/>
          <p:nvPr/>
        </p:nvSpPr>
        <p:spPr>
          <a:xfrm>
            <a:off x="682196" y="2614727"/>
            <a:ext cx="155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Current cycle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E5A3BF-FF38-D66B-5AC7-D312EFECFC73}"/>
              </a:ext>
            </a:extLst>
          </p:cNvPr>
          <p:cNvSpPr txBox="1"/>
          <p:nvPr/>
        </p:nvSpPr>
        <p:spPr>
          <a:xfrm>
            <a:off x="496953" y="3839734"/>
            <a:ext cx="207697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Charge/discharge current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C02EB4-F0D9-4229-A6D5-D81FBC6D35D0}"/>
              </a:ext>
            </a:extLst>
          </p:cNvPr>
          <p:cNvSpPr txBox="1"/>
          <p:nvPr/>
        </p:nvSpPr>
        <p:spPr>
          <a:xfrm>
            <a:off x="496953" y="5596847"/>
            <a:ext cx="207697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voltage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E8660B0-0F5C-FEFF-D1C1-8468D8F6DBC7}"/>
              </a:ext>
            </a:extLst>
          </p:cNvPr>
          <p:cNvSpPr/>
          <p:nvPr/>
        </p:nvSpPr>
        <p:spPr>
          <a:xfrm>
            <a:off x="2855402" y="4311650"/>
            <a:ext cx="529131" cy="495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C059136-DB9F-3E84-4C0E-9D8784E96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450" y="406411"/>
            <a:ext cx="2736400" cy="19278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A12AB01-4002-68FD-4D74-BD19055552FD}"/>
              </a:ext>
            </a:extLst>
          </p:cNvPr>
          <p:cNvSpPr txBox="1"/>
          <p:nvPr/>
        </p:nvSpPr>
        <p:spPr>
          <a:xfrm>
            <a:off x="9393941" y="1785586"/>
            <a:ext cx="21337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Discharge capacity</a:t>
            </a:r>
          </a:p>
        </p:txBody>
      </p:sp>
    </p:spTree>
    <p:extLst>
      <p:ext uri="{BB962C8B-B14F-4D97-AF65-F5344CB8AC3E}">
        <p14:creationId xmlns:p14="http://schemas.microsoft.com/office/powerpoint/2010/main" val="2329500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6B7D54-B641-2682-45A3-90A7F7F08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891" y="1893825"/>
            <a:ext cx="7300417" cy="41512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8C960B-84B3-0FC9-5C0E-FC76ACB4531C}"/>
              </a:ext>
            </a:extLst>
          </p:cNvPr>
          <p:cNvSpPr txBox="1"/>
          <p:nvPr/>
        </p:nvSpPr>
        <p:spPr>
          <a:xfrm>
            <a:off x="1308100" y="3550334"/>
            <a:ext cx="1226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300,000</a:t>
            </a:r>
            <a:r>
              <a:rPr lang="ko-KR" altLang="en-US" dirty="0"/>
              <a:t>초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83</a:t>
            </a:r>
            <a:r>
              <a:rPr lang="ko-KR" altLang="en-US" dirty="0"/>
              <a:t>시간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3EBF2-F665-3DFD-C06E-6D4E86CCEE3C}"/>
              </a:ext>
            </a:extLst>
          </p:cNvPr>
          <p:cNvSpPr txBox="1"/>
          <p:nvPr/>
        </p:nvSpPr>
        <p:spPr>
          <a:xfrm>
            <a:off x="418010" y="720635"/>
            <a:ext cx="730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시뮬레이션 시간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9CB96-B290-3196-A995-7EEA9E23D31C}"/>
              </a:ext>
            </a:extLst>
          </p:cNvPr>
          <p:cNvSpPr txBox="1"/>
          <p:nvPr/>
        </p:nvSpPr>
        <p:spPr>
          <a:xfrm>
            <a:off x="838200" y="4845734"/>
            <a:ext cx="30508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파워트레인 모델 및 </a:t>
            </a:r>
            <a:endParaRPr lang="en-US" altLang="ko-KR" dirty="0"/>
          </a:p>
          <a:p>
            <a:r>
              <a:rPr lang="ko-KR" altLang="en-US" dirty="0"/>
              <a:t>제어 부분을 추가하면 좀 더</a:t>
            </a:r>
            <a:endParaRPr lang="en-US" altLang="ko-KR" dirty="0"/>
          </a:p>
          <a:p>
            <a:r>
              <a:rPr lang="ko-KR" altLang="en-US" dirty="0" err="1"/>
              <a:t>걸릴거라고</a:t>
            </a:r>
            <a:r>
              <a:rPr lang="ko-KR" altLang="en-US" dirty="0"/>
              <a:t> 예상</a:t>
            </a:r>
          </a:p>
        </p:txBody>
      </p:sp>
    </p:spTree>
    <p:extLst>
      <p:ext uri="{BB962C8B-B14F-4D97-AF65-F5344CB8AC3E}">
        <p14:creationId xmlns:p14="http://schemas.microsoft.com/office/powerpoint/2010/main" val="297286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552F44-7015-DE9C-B9E4-401D8CFCC1EB}"/>
              </a:ext>
            </a:extLst>
          </p:cNvPr>
          <p:cNvSpPr txBox="1"/>
          <p:nvPr/>
        </p:nvSpPr>
        <p:spPr>
          <a:xfrm>
            <a:off x="418010" y="720635"/>
            <a:ext cx="730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시뮬레이션 가속화를 위한 시나리오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EB959A3-EA4A-1D07-4982-76A771C6B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51" y="1900955"/>
            <a:ext cx="6649105" cy="1760689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2D7B22B-A3E3-12DD-3172-9A87DE415EA9}"/>
              </a:ext>
            </a:extLst>
          </p:cNvPr>
          <p:cNvCxnSpPr>
            <a:stCxn id="29" idx="3"/>
          </p:cNvCxnSpPr>
          <p:nvPr/>
        </p:nvCxnSpPr>
        <p:spPr>
          <a:xfrm flipV="1">
            <a:off x="7216556" y="2781299"/>
            <a:ext cx="65448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F97B1E5-B634-0884-98E1-661458ADF754}"/>
              </a:ext>
            </a:extLst>
          </p:cNvPr>
          <p:cNvSpPr txBox="1"/>
          <p:nvPr/>
        </p:nvSpPr>
        <p:spPr>
          <a:xfrm>
            <a:off x="567451" y="1346224"/>
            <a:ext cx="433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1. 1</a:t>
            </a:r>
            <a:r>
              <a:rPr lang="ko-KR" altLang="en-US" dirty="0"/>
              <a:t>개의 </a:t>
            </a:r>
            <a:r>
              <a:rPr lang="en-US" altLang="ko-KR" dirty="0"/>
              <a:t>driving cycle</a:t>
            </a:r>
            <a:r>
              <a:rPr lang="ko-KR" altLang="en-US" dirty="0"/>
              <a:t>을 </a:t>
            </a:r>
            <a:r>
              <a:rPr lang="en-US" altLang="ko-KR" dirty="0"/>
              <a:t>1</a:t>
            </a:r>
            <a:r>
              <a:rPr lang="ko-KR" altLang="en-US" dirty="0"/>
              <a:t>일이라고 가정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67CC64-9772-0149-744F-C3DB6E8A67D4}"/>
              </a:ext>
            </a:extLst>
          </p:cNvPr>
          <p:cNvSpPr txBox="1"/>
          <p:nvPr/>
        </p:nvSpPr>
        <p:spPr>
          <a:xfrm>
            <a:off x="8073151" y="2454870"/>
            <a:ext cx="3712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제안하는 에너지 최적화 기법으로 </a:t>
            </a:r>
            <a:endParaRPr lang="en-US" altLang="ko-KR" dirty="0"/>
          </a:p>
          <a:p>
            <a:r>
              <a:rPr lang="ko-KR" altLang="en-US" dirty="0"/>
              <a:t>요구되는 제어 입력</a:t>
            </a:r>
            <a:r>
              <a:rPr lang="en-US" altLang="ko-KR" dirty="0"/>
              <a:t>(</a:t>
            </a:r>
            <a:r>
              <a:rPr lang="ko-KR" altLang="en-US" dirty="0"/>
              <a:t>배터리 </a:t>
            </a:r>
            <a:r>
              <a:rPr lang="en-US" altLang="ko-KR" dirty="0"/>
              <a:t>power) </a:t>
            </a:r>
            <a:r>
              <a:rPr lang="ko-KR" altLang="en-US" dirty="0"/>
              <a:t>결정하고 </a:t>
            </a:r>
            <a:r>
              <a:rPr lang="en-US" altLang="ko-KR" dirty="0"/>
              <a:t>cycle </a:t>
            </a:r>
            <a:r>
              <a:rPr lang="ko-KR" altLang="en-US" dirty="0"/>
              <a:t>저장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460D30-C5B1-E65D-335B-BD2A4AE12718}"/>
              </a:ext>
            </a:extLst>
          </p:cNvPr>
          <p:cNvSpPr txBox="1"/>
          <p:nvPr/>
        </p:nvSpPr>
        <p:spPr>
          <a:xfrm>
            <a:off x="554751" y="4064001"/>
            <a:ext cx="11228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Short-term </a:t>
            </a:r>
            <a:r>
              <a:rPr lang="ko-KR" altLang="en-US" dirty="0"/>
              <a:t>동안 열화가 많이 진행되지는 않는다고 생각할 수 있으므로 위에서 얻은 고정된 제어 </a:t>
            </a:r>
            <a:r>
              <a:rPr lang="en-US" altLang="ko-KR" dirty="0"/>
              <a:t>cycle</a:t>
            </a:r>
            <a:r>
              <a:rPr lang="ko-KR" altLang="en-US" dirty="0"/>
              <a:t>로</a:t>
            </a:r>
            <a:endParaRPr lang="en-US" altLang="ko-KR" dirty="0"/>
          </a:p>
          <a:p>
            <a:r>
              <a:rPr lang="ko-KR" altLang="en-US" dirty="0"/>
              <a:t>시뮬레이션을 가속화하여 배터리를 열화 </a:t>
            </a:r>
            <a:r>
              <a:rPr lang="en-US" altLang="ko-KR" dirty="0"/>
              <a:t>(</a:t>
            </a:r>
            <a:r>
              <a:rPr lang="ko-KR" altLang="en-US" dirty="0"/>
              <a:t>대략 </a:t>
            </a:r>
            <a:r>
              <a:rPr lang="en-US" altLang="ko-KR" dirty="0"/>
              <a:t>50 ~ 100 cycles</a:t>
            </a:r>
            <a:r>
              <a:rPr lang="en-US" altLang="ko-KR" dirty="0">
                <a:sym typeface="Wingdings" panose="05000000000000000000" pitchFamily="2" charset="2"/>
              </a:rPr>
              <a:t> 50 ~ 100</a:t>
            </a:r>
            <a:r>
              <a:rPr lang="ko-KR" altLang="en-US" dirty="0">
                <a:sym typeface="Wingdings" panose="05000000000000000000" pitchFamily="2" charset="2"/>
              </a:rPr>
              <a:t>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E7BA4FC2-7796-02C1-8909-218FDD6F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08" y="4944345"/>
            <a:ext cx="2864795" cy="1656105"/>
          </a:xfrm>
          <a:prstGeom prst="rect">
            <a:avLst/>
          </a:prstGeom>
        </p:spPr>
      </p:pic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7FF847B9-3955-EC44-D3A6-C03ECB5F91E7}"/>
              </a:ext>
            </a:extLst>
          </p:cNvPr>
          <p:cNvSpPr/>
          <p:nvPr/>
        </p:nvSpPr>
        <p:spPr>
          <a:xfrm>
            <a:off x="4057104" y="5600676"/>
            <a:ext cx="640248" cy="40933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B5496F-8747-063F-DBA6-AC49C046BDAD}"/>
              </a:ext>
            </a:extLst>
          </p:cNvPr>
          <p:cNvSpPr txBox="1"/>
          <p:nvPr/>
        </p:nvSpPr>
        <p:spPr>
          <a:xfrm>
            <a:off x="3749299" y="4970838"/>
            <a:ext cx="1255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100 cycles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8FAB0B-C26A-5E33-1233-4F9BFAC4894E}"/>
              </a:ext>
            </a:extLst>
          </p:cNvPr>
          <p:cNvSpPr txBox="1"/>
          <p:nvPr/>
        </p:nvSpPr>
        <p:spPr>
          <a:xfrm>
            <a:off x="5455371" y="5587731"/>
            <a:ext cx="6192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배터리 최종상태를 저장하고 다시 </a:t>
            </a:r>
            <a:r>
              <a:rPr lang="en-US" altLang="ko-KR" dirty="0"/>
              <a:t>1</a:t>
            </a:r>
            <a:r>
              <a:rPr lang="ko-KR" altLang="en-US" dirty="0"/>
              <a:t>로 돌아가서 제어 입력</a:t>
            </a:r>
            <a:endParaRPr lang="en-US" altLang="ko-KR" dirty="0"/>
          </a:p>
          <a:p>
            <a:r>
              <a:rPr lang="en-US" altLang="ko-KR" dirty="0"/>
              <a:t>Cycle</a:t>
            </a:r>
            <a:r>
              <a:rPr lang="ko-KR" altLang="en-US" dirty="0"/>
              <a:t> 저장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5D25354-53A2-D72E-13CE-E495ACFF5D56}"/>
              </a:ext>
            </a:extLst>
          </p:cNvPr>
          <p:cNvCxnSpPr>
            <a:cxnSpLocks/>
          </p:cNvCxnSpPr>
          <p:nvPr/>
        </p:nvCxnSpPr>
        <p:spPr>
          <a:xfrm>
            <a:off x="5637843" y="3670881"/>
            <a:ext cx="0" cy="3931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966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9E8F84C-FB8B-4475-A552-2158E798E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1790471"/>
            <a:ext cx="10326541" cy="3277057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1A87957-3456-D6C1-4AB3-49FE8BB0D5FB}"/>
              </a:ext>
            </a:extLst>
          </p:cNvPr>
          <p:cNvSpPr/>
          <p:nvPr/>
        </p:nvSpPr>
        <p:spPr>
          <a:xfrm>
            <a:off x="2718895" y="2589751"/>
            <a:ext cx="4187002" cy="13176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DD143-0C7F-158F-7DC9-4A92702DA3A9}"/>
              </a:ext>
            </a:extLst>
          </p:cNvPr>
          <p:cNvSpPr txBox="1"/>
          <p:nvPr/>
        </p:nvSpPr>
        <p:spPr>
          <a:xfrm>
            <a:off x="2821577" y="2133600"/>
            <a:ext cx="1312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powertrain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9D18B-631C-415E-DF54-FD544A25D3C3}"/>
              </a:ext>
            </a:extLst>
          </p:cNvPr>
          <p:cNvSpPr txBox="1"/>
          <p:nvPr/>
        </p:nvSpPr>
        <p:spPr>
          <a:xfrm>
            <a:off x="932729" y="2133600"/>
            <a:ext cx="152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Driving cycle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332E8-177B-DF7D-3CD0-65C7FCC25C55}"/>
              </a:ext>
            </a:extLst>
          </p:cNvPr>
          <p:cNvSpPr txBox="1"/>
          <p:nvPr/>
        </p:nvSpPr>
        <p:spPr>
          <a:xfrm>
            <a:off x="6802054" y="276932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전류 지령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D6E4775-CABD-897A-30C5-AC5B36944581}"/>
              </a:ext>
            </a:extLst>
          </p:cNvPr>
          <p:cNvSpPr/>
          <p:nvPr/>
        </p:nvSpPr>
        <p:spPr>
          <a:xfrm>
            <a:off x="7991803" y="2589751"/>
            <a:ext cx="786437" cy="13176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D2B8C0-13E6-BEF7-B8FC-E6B4211EE2BD}"/>
              </a:ext>
            </a:extLst>
          </p:cNvPr>
          <p:cNvSpPr txBox="1"/>
          <p:nvPr/>
        </p:nvSpPr>
        <p:spPr>
          <a:xfrm>
            <a:off x="7790146" y="4502529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배터리 팩 모델링 </a:t>
            </a:r>
            <a:r>
              <a:rPr lang="en-US" altLang="ko-KR" dirty="0"/>
              <a:t>48S4P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EF7281-8851-6912-DCEF-628DA08AE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658" y="4871861"/>
            <a:ext cx="2053102" cy="185477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6DA33B9-5065-DA18-7328-50A0FE313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463" y="4971210"/>
            <a:ext cx="2475365" cy="17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3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F82D3B3E-012F-2C78-2497-3B6E5C2270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838829"/>
              </p:ext>
            </p:extLst>
          </p:nvPr>
        </p:nvGraphicFramePr>
        <p:xfrm>
          <a:off x="6096000" y="288925"/>
          <a:ext cx="63531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2" imgW="6353092" imgH="514350" progId="Package">
                  <p:embed/>
                </p:oleObj>
              </mc:Choice>
              <mc:Fallback>
                <p:oleObj name="포장기 셸 개체" showAsIcon="1" r:id="rId2" imgW="6353092" imgH="514350" progId="Package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F82D3B3E-012F-2C78-2497-3B6E5C2270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288925"/>
                        <a:ext cx="63531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1961E9F-8076-616C-44D9-9BC713CAACDE}"/>
              </a:ext>
            </a:extLst>
          </p:cNvPr>
          <p:cNvSpPr txBox="1"/>
          <p:nvPr/>
        </p:nvSpPr>
        <p:spPr>
          <a:xfrm>
            <a:off x="407589" y="282852"/>
            <a:ext cx="730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선행 연구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78DA8B-CCCD-61EC-664D-CC185DDA9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89" y="816345"/>
            <a:ext cx="8864997" cy="17792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9A34895-D06D-7980-9496-2E1180DB25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01" y="4136572"/>
            <a:ext cx="4542721" cy="19288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22E72C-AC82-6F49-F953-3451F0BEEC39}"/>
              </a:ext>
            </a:extLst>
          </p:cNvPr>
          <p:cNvSpPr txBox="1"/>
          <p:nvPr/>
        </p:nvSpPr>
        <p:spPr>
          <a:xfrm>
            <a:off x="616671" y="3843719"/>
            <a:ext cx="425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Onori</a:t>
            </a:r>
            <a:r>
              <a:rPr lang="en-US" altLang="ko-KR" dirty="0"/>
              <a:t> </a:t>
            </a:r>
            <a:r>
              <a:rPr lang="ko-KR" altLang="en-US" dirty="0"/>
              <a:t>교수님 그룹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배터리 열화 모델</a:t>
            </a:r>
            <a:endParaRPr lang="ko-KR" altLang="en-US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5DCD1937-05E2-5C55-8095-EDC96AB15197}"/>
              </a:ext>
            </a:extLst>
          </p:cNvPr>
          <p:cNvSpPr/>
          <p:nvPr/>
        </p:nvSpPr>
        <p:spPr>
          <a:xfrm>
            <a:off x="5562465" y="4896344"/>
            <a:ext cx="640248" cy="40933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1F674DB-697A-0D08-DC35-AA578CA0D2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9004" y="3631717"/>
            <a:ext cx="4267166" cy="31177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0F0D0FA-7A32-2D09-249D-A458BC7DE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0123" y="2830861"/>
            <a:ext cx="3864927" cy="105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2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961E9F-8076-616C-44D9-9BC713CAACDE}"/>
              </a:ext>
            </a:extLst>
          </p:cNvPr>
          <p:cNvSpPr txBox="1"/>
          <p:nvPr/>
        </p:nvSpPr>
        <p:spPr>
          <a:xfrm>
            <a:off x="407589" y="282852"/>
            <a:ext cx="730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선행 연구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2F9C6FC-85DE-DE56-6832-046C8AAED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89" y="1263578"/>
            <a:ext cx="5220429" cy="10288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95137C0-39C4-9435-4E78-59F5C3FA3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61" y="2669838"/>
            <a:ext cx="4408879" cy="32279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5A23084-0901-79AF-9661-F8B1C0E11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317" y="1263578"/>
            <a:ext cx="5125165" cy="19814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84EA4E9-D76B-6B5B-A459-85E3B0A710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091" y="3500361"/>
            <a:ext cx="3565624" cy="30385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1D0B79-DF68-E69D-9326-33FE4E219C08}"/>
              </a:ext>
            </a:extLst>
          </p:cNvPr>
          <p:cNvSpPr txBox="1"/>
          <p:nvPr/>
        </p:nvSpPr>
        <p:spPr>
          <a:xfrm>
            <a:off x="1709703" y="5968408"/>
            <a:ext cx="527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시뮬레이션을 배터리 열화 </a:t>
            </a:r>
            <a:r>
              <a:rPr lang="en-US" altLang="ko-KR" dirty="0"/>
              <a:t>surrogate </a:t>
            </a:r>
            <a:r>
              <a:rPr lang="ko-KR" altLang="en-US" dirty="0"/>
              <a:t>모델로 수행</a:t>
            </a:r>
          </a:p>
        </p:txBody>
      </p:sp>
    </p:spTree>
    <p:extLst>
      <p:ext uri="{BB962C8B-B14F-4D97-AF65-F5344CB8AC3E}">
        <p14:creationId xmlns:p14="http://schemas.microsoft.com/office/powerpoint/2010/main" val="151074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251</Words>
  <Application>Microsoft Office PowerPoint</Application>
  <PresentationFormat>와이드스크린</PresentationFormat>
  <Paragraphs>63</Paragraphs>
  <Slides>9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포장기 셸 개체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Seunghun Jang</dc:creator>
  <cp:lastModifiedBy>Seunghun Jang</cp:lastModifiedBy>
  <cp:revision>2</cp:revision>
  <dcterms:created xsi:type="dcterms:W3CDTF">2025-10-30T07:58:18Z</dcterms:created>
  <dcterms:modified xsi:type="dcterms:W3CDTF">2025-11-21T04:57:34Z</dcterms:modified>
</cp:coreProperties>
</file>