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929" r:id="rId2"/>
    <p:sldId id="2970" r:id="rId3"/>
    <p:sldId id="2971" r:id="rId4"/>
    <p:sldId id="2972" r:id="rId5"/>
    <p:sldId id="2973" r:id="rId6"/>
    <p:sldId id="2974" r:id="rId7"/>
    <p:sldId id="2975" r:id="rId8"/>
    <p:sldId id="2976" r:id="rId9"/>
    <p:sldId id="2977" r:id="rId10"/>
    <p:sldId id="2979" r:id="rId11"/>
    <p:sldId id="2978" r:id="rId12"/>
    <p:sldId id="2980" r:id="rId1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11CBA-3F2A-1399-FFF7-ABF99BDB0604}" name="Seunghun Jang" initials="SJ" userId="3fc171b04cfc4c4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C1C1C1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15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anumBarunGothic" panose="020B0603020101020101" pitchFamily="34" charset="-127"/>
              </a:defRPr>
            </a:lvl1pPr>
          </a:lstStyle>
          <a:p>
            <a:fld id="{2C139193-1395-414A-BA2C-F3819417EE00}" type="datetimeFigureOut">
              <a:rPr lang="en-KR" smtClean="0"/>
              <a:pPr/>
              <a:t>09/25/2025</a:t>
            </a:fld>
            <a:endParaRPr lang="en-K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anumBarunGothic" panose="020B0603020101020101" pitchFamily="34" charset="-127"/>
              </a:defRPr>
            </a:lvl1pPr>
          </a:lstStyle>
          <a:p>
            <a:fld id="{2AC991DE-395F-A84E-B09A-BE67D13F61E4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61254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b="0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6068A-C293-4585-A9A4-94D713860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20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39A8B74-48F0-B9D0-5C57-2C0E54B58F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8937" y="1353600"/>
            <a:ext cx="5891213" cy="609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Subtitle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3DFCBDE0-E7B2-AF13-891A-40DDE63833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8646" y="1882800"/>
            <a:ext cx="7795934" cy="119606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36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20000"/>
              </a:lnSpc>
            </a:pPr>
            <a:r>
              <a:rPr lang="en-US" altLang="ko-KR" sz="3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Title</a:t>
            </a:r>
            <a:endParaRPr lang="ko-KR" altLang="en-US" sz="4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1" name="Text Placeholder 48">
            <a:extLst>
              <a:ext uri="{FF2B5EF4-FFF2-40B4-BE49-F238E27FC236}">
                <a16:creationId xmlns:a16="http://schemas.microsoft.com/office/drawing/2014/main" id="{1BB0C16F-8DAE-CCAE-2966-D27480CA73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4400" y="3103200"/>
            <a:ext cx="6044400" cy="2131200"/>
          </a:xfrm>
        </p:spPr>
        <p:txBody>
          <a:bodyPr anchor="t" anchorCtr="0">
            <a:spAutoFit/>
          </a:bodyPr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20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Name</a:t>
            </a:r>
            <a:endParaRPr lang="en-US" altLang="ko-KR" sz="2000" b="1" baseline="30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Ph.D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student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조천식모빌리티대학원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KAIST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 0x. 0x. (x)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E15268-C4FF-FFCD-B81B-195E432417DA}"/>
              </a:ext>
            </a:extLst>
          </p:cNvPr>
          <p:cNvGrpSpPr/>
          <p:nvPr userDrawn="1"/>
        </p:nvGrpSpPr>
        <p:grpSpPr>
          <a:xfrm>
            <a:off x="4246850" y="5700249"/>
            <a:ext cx="3679525" cy="665106"/>
            <a:chOff x="5797756" y="5807704"/>
            <a:chExt cx="3679525" cy="665106"/>
          </a:xfrm>
        </p:grpSpPr>
        <p:pic>
          <p:nvPicPr>
            <p:cNvPr id="2" name="Picture 1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3969C60D-9E77-264C-6228-2935F9CC1C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b="18889"/>
            <a:stretch>
              <a:fillRect/>
            </a:stretch>
          </p:blipFill>
          <p:spPr>
            <a:xfrm>
              <a:off x="8014200" y="5980305"/>
              <a:ext cx="1463081" cy="421836"/>
            </a:xfrm>
            <a:prstGeom prst="rect">
              <a:avLst/>
            </a:prstGeom>
          </p:spPr>
        </p:pic>
        <p:pic>
          <p:nvPicPr>
            <p:cNvPr id="18" name="그림 2" descr="텍스트, 폰트, 그래픽, 로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5C65619-7AE8-C127-8F57-CD80925DB5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372"/>
            <a:stretch/>
          </p:blipFill>
          <p:spPr>
            <a:xfrm>
              <a:off x="5797756" y="5807704"/>
              <a:ext cx="2368952" cy="665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240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6">
            <a:extLst>
              <a:ext uri="{FF2B5EF4-FFF2-40B4-BE49-F238E27FC236}">
                <a16:creationId xmlns:a16="http://schemas.microsoft.com/office/drawing/2014/main" id="{B14AA50B-80C6-1BF7-1314-13B2CA9ACE08}"/>
              </a:ext>
            </a:extLst>
          </p:cNvPr>
          <p:cNvSpPr/>
          <p:nvPr userDrawn="1"/>
        </p:nvSpPr>
        <p:spPr>
          <a:xfrm>
            <a:off x="0" y="0"/>
            <a:ext cx="193675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0" i="0" spc="-12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DDFC7A2-D64C-F8A6-F0ED-8AB43272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6625" y="0"/>
            <a:ext cx="9985375" cy="6858000"/>
          </a:xfrm>
        </p:spPr>
        <p:txBody>
          <a:bodyPr anchor="ctr">
            <a:normAutofit/>
          </a:bodyPr>
          <a:lstStyle>
            <a:lvl1pPr marL="514350" indent="-514350">
              <a:lnSpc>
                <a:spcPct val="150000"/>
              </a:lnSpc>
              <a:buSzPct val="140000"/>
              <a:buFont typeface="+mj-lt"/>
              <a:buAutoNum type="arabicPeriod"/>
              <a:defRPr sz="2800"/>
            </a:lvl1pPr>
            <a:lvl2pPr marL="914400" indent="-457200">
              <a:buSzPct val="140000"/>
              <a:buFont typeface="+mj-lt"/>
              <a:buAutoNum type="arabicPeriod"/>
              <a:defRPr/>
            </a:lvl2pPr>
            <a:lvl3pPr marL="1371600" indent="-457200">
              <a:buSzPct val="140000"/>
              <a:buFont typeface="+mj-lt"/>
              <a:buAutoNum type="arabicPeriod"/>
              <a:defRPr/>
            </a:lvl3pPr>
            <a:lvl4pPr marL="1714500" indent="-342900">
              <a:buSzPct val="140000"/>
              <a:buFont typeface="+mj-lt"/>
              <a:buAutoNum type="arabicPeriod"/>
              <a:defRPr/>
            </a:lvl4pPr>
            <a:lvl5pPr marL="2171700" indent="-342900">
              <a:buSzPct val="14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DE679A-271B-455A-63D3-04DD2E19437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423" y="2566987"/>
            <a:ext cx="1787904" cy="1724025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</a:lstStyle>
          <a:p>
            <a:pPr lvl="0"/>
            <a:r>
              <a:rPr lang="en-US" dirty="0"/>
              <a:t>Contents</a:t>
            </a:r>
          </a:p>
          <a:p>
            <a:pPr lvl="0"/>
            <a:r>
              <a:rPr lang="en-US" dirty="0"/>
              <a:t>or</a:t>
            </a:r>
          </a:p>
          <a:p>
            <a:pPr lvl="0"/>
            <a:r>
              <a:rPr lang="ko-KR" altLang="en-US" dirty="0"/>
              <a:t>목차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94186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5FDC554-BE26-62CD-607B-8AB978076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9931" y="1877218"/>
            <a:ext cx="8212138" cy="3103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0"/>
            </a:lvl1pPr>
          </a:lstStyle>
          <a:p>
            <a:pPr lvl="0"/>
            <a:r>
              <a:rPr lang="en-US" altLang="ko-KR" dirty="0"/>
              <a:t>#.</a:t>
            </a:r>
            <a:r>
              <a:rPr lang="ko-KR" altLang="en-US" dirty="0"/>
              <a:t> </a:t>
            </a:r>
            <a:r>
              <a:rPr lang="en-US" altLang="ko-KR" dirty="0"/>
              <a:t>Section Title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37687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D12D3B3-4EC7-7A3F-1B0B-76C9449702E3}"/>
              </a:ext>
            </a:extLst>
          </p:cNvPr>
          <p:cNvCxnSpPr/>
          <p:nvPr userDrawn="1"/>
        </p:nvCxnSpPr>
        <p:spPr>
          <a:xfrm flipV="1">
            <a:off x="326773" y="6311901"/>
            <a:ext cx="11154769" cy="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AAC480-1A69-7832-3807-1529AF151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>
            <a:lvl1pPr>
              <a:lnSpc>
                <a:spcPct val="120000"/>
              </a:lnSpc>
              <a:defRPr sz="18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16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67316644-13C7-6991-644A-048613BCB1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990" y="6289392"/>
            <a:ext cx="11318875" cy="5686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7084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AAC480-1A69-7832-3807-1529AF151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>
            <a:lvl1pPr>
              <a:lnSpc>
                <a:spcPct val="120000"/>
              </a:lnSpc>
              <a:defRPr sz="18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16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BB33A73C-7E47-2063-8C68-C6C55704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738" y="6262716"/>
            <a:ext cx="11319128" cy="595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338482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D12D3B3-4EC7-7A3F-1B0B-76C9449702E3}"/>
              </a:ext>
            </a:extLst>
          </p:cNvPr>
          <p:cNvCxnSpPr/>
          <p:nvPr userDrawn="1"/>
        </p:nvCxnSpPr>
        <p:spPr>
          <a:xfrm flipV="1">
            <a:off x="326773" y="6311901"/>
            <a:ext cx="11154769" cy="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FA6715D7-11FA-F29F-1CCE-1788976DAC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1323" y="1560300"/>
            <a:ext cx="5433698" cy="4724009"/>
          </a:xfrm>
        </p:spPr>
        <p:txBody>
          <a:bodyPr/>
          <a:lstStyle>
            <a:lvl1pPr>
              <a:lnSpc>
                <a:spcPct val="120000"/>
              </a:lnSpc>
              <a:defRPr sz="1800" b="0"/>
            </a:lvl1pPr>
            <a:lvl2pPr>
              <a:lnSpc>
                <a:spcPct val="120000"/>
              </a:lnSpc>
              <a:defRPr sz="1600" b="0"/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5D30FBEE-5BB6-1888-DA11-48946890A5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1071" y="1131577"/>
            <a:ext cx="5433698" cy="401132"/>
          </a:xfrm>
        </p:spPr>
        <p:txBody>
          <a:bodyPr>
            <a:normAutofit/>
          </a:bodyPr>
          <a:lstStyle>
            <a:lvl1pPr marL="0" indent="0" algn="ctr">
              <a:buNone/>
              <a:defRPr sz="2200" b="0"/>
            </a:lvl1pPr>
            <a:lvl2pPr>
              <a:defRPr sz="1600"/>
            </a:lvl2pPr>
            <a:lvl3pPr marL="914400" indent="0" algn="ctr">
              <a:buFont typeface="Arial" panose="020B0604020202020204" pitchFamily="34" charset="0"/>
              <a:buNone/>
              <a:defRPr sz="2000"/>
            </a:lvl3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B55BD7AA-A368-0844-3CC4-873702DFC5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252" y="1560300"/>
            <a:ext cx="5433698" cy="4724009"/>
          </a:xfrm>
        </p:spPr>
        <p:txBody>
          <a:bodyPr/>
          <a:lstStyle>
            <a:lvl1pPr>
              <a:lnSpc>
                <a:spcPct val="120000"/>
              </a:lnSpc>
              <a:defRPr sz="1800" b="0"/>
            </a:lvl1pPr>
            <a:lvl2pPr>
              <a:lnSpc>
                <a:spcPct val="120000"/>
              </a:lnSpc>
              <a:defRPr sz="1600" b="0"/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BB1CEFEF-172D-5C45-859F-BAF79B888C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131577"/>
            <a:ext cx="5433698" cy="401132"/>
          </a:xfrm>
        </p:spPr>
        <p:txBody>
          <a:bodyPr>
            <a:normAutofit/>
          </a:bodyPr>
          <a:lstStyle>
            <a:lvl1pPr marL="0" indent="0" algn="ctr">
              <a:buNone/>
              <a:defRPr sz="2200" b="0"/>
            </a:lvl1pPr>
            <a:lvl2pPr>
              <a:defRPr sz="1600"/>
            </a:lvl2pPr>
            <a:lvl3pPr marL="914400" indent="0" algn="ctr">
              <a:buFont typeface="Arial" panose="020B0604020202020204" pitchFamily="34" charset="0"/>
              <a:buNone/>
              <a:defRPr sz="2000"/>
            </a:lvl3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7C40926D-5D72-76E0-E11C-44EF2A188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738" y="6262716"/>
            <a:ext cx="11319128" cy="595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227931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>
            <a:extLst>
              <a:ext uri="{FF2B5EF4-FFF2-40B4-BE49-F238E27FC236}">
                <a16:creationId xmlns:a16="http://schemas.microsoft.com/office/drawing/2014/main" id="{FD46EE62-3A8C-A371-14E4-769EC8ADC8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04" y="1661160"/>
            <a:ext cx="3001792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1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A9976-E955-F60A-33D9-C13140AD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A1015-DAD9-639A-5742-79C01620B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36103-2E0B-AE43-2516-4D290BC5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fld id="{C57D0951-C5F5-354B-A57A-D2E03E77954A}" type="datetime1">
              <a:rPr lang="en-US" smtClean="0"/>
              <a:pPr/>
              <a:t>9/25/2025</a:t>
            </a:fld>
            <a:endParaRPr lang="en-K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111DE-7215-183E-0210-5137AAEC9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5BF8A-A629-41F6-99DE-34F9D4D2C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482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4" r:id="rId6"/>
    <p:sldLayoutId id="2147483652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NanumBarunGothic" panose="020B0603020101020101" pitchFamily="34" charset="-12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87BA604-1151-4261-A75E-BCF05676E13F}"/>
              </a:ext>
            </a:extLst>
          </p:cNvPr>
          <p:cNvSpPr txBox="1"/>
          <p:nvPr/>
        </p:nvSpPr>
        <p:spPr>
          <a:xfrm>
            <a:off x="0" y="1868071"/>
            <a:ext cx="12192000" cy="758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4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endParaRPr lang="ko-KR" altLang="en-US" sz="4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CBE14-9C1B-46F4-8A7E-9F9AC765F183}"/>
              </a:ext>
            </a:extLst>
          </p:cNvPr>
          <p:cNvSpPr txBox="1"/>
          <p:nvPr/>
        </p:nvSpPr>
        <p:spPr>
          <a:xfrm>
            <a:off x="1677520" y="1352346"/>
            <a:ext cx="8836959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주차 미팅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ACE3C4F1-A228-4DDD-9A7D-83A8E2C3DDD3}"/>
              </a:ext>
            </a:extLst>
          </p:cNvPr>
          <p:cNvSpPr txBox="1"/>
          <p:nvPr/>
        </p:nvSpPr>
        <p:spPr>
          <a:xfrm>
            <a:off x="3073799" y="3166109"/>
            <a:ext cx="6044400" cy="213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2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장승훈</a:t>
            </a:r>
            <a:endParaRPr lang="en-US" altLang="ko-KR" sz="2000" b="1" baseline="30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박사과정</a:t>
            </a:r>
            <a:endParaRPr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조천식모빌리티대학원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KAIST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 9. 25. (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8B3E05-51AE-49D6-A7E8-B17766087A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72"/>
          <a:stretch/>
        </p:blipFill>
        <p:spPr>
          <a:xfrm>
            <a:off x="3936088" y="5844552"/>
            <a:ext cx="2368952" cy="6651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97C53D3-BB19-47C7-A6EA-96A2D30782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87"/>
          <a:stretch/>
        </p:blipFill>
        <p:spPr>
          <a:xfrm>
            <a:off x="6234730" y="6029564"/>
            <a:ext cx="1458029" cy="43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8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Battery System Model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SOC dynamics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온도 </a:t>
            </a:r>
            <a:r>
              <a:rPr lang="en-US" altLang="ko-KR" dirty="0"/>
              <a:t>dynamics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2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E4B58C4-B68C-ED2C-9323-8196F807DC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1C05649-6948-4525-5EDC-32FBA73A0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513" y="1523734"/>
            <a:ext cx="6849431" cy="190526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0AB536F-7A05-0E9E-C15A-94EBADE5C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513" y="4224399"/>
            <a:ext cx="6725589" cy="1933845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435122C-EF6D-8F33-B9E8-EDD1537CA204}"/>
              </a:ext>
            </a:extLst>
          </p:cNvPr>
          <p:cNvCxnSpPr/>
          <p:nvPr/>
        </p:nvCxnSpPr>
        <p:spPr>
          <a:xfrm flipV="1">
            <a:off x="6192682" y="1776549"/>
            <a:ext cx="461625" cy="496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0B10429-BCC8-70D0-62DB-3DD80A42B983}"/>
              </a:ext>
            </a:extLst>
          </p:cNvPr>
          <p:cNvSpPr txBox="1"/>
          <p:nvPr/>
        </p:nvSpPr>
        <p:spPr>
          <a:xfrm>
            <a:off x="6479177" y="1349562"/>
            <a:ext cx="255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온도 유지를 위한 </a:t>
            </a:r>
            <a:r>
              <a:rPr lang="en-US" altLang="ko-KR" dirty="0"/>
              <a:t>power</a:t>
            </a:r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A8FDE89-3548-5C54-1E06-914478AC8C1C}"/>
              </a:ext>
            </a:extLst>
          </p:cNvPr>
          <p:cNvCxnSpPr>
            <a:cxnSpLocks/>
          </p:cNvCxnSpPr>
          <p:nvPr/>
        </p:nvCxnSpPr>
        <p:spPr>
          <a:xfrm flipV="1">
            <a:off x="5634375" y="1480492"/>
            <a:ext cx="222737" cy="792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9903EF8-DD86-2E01-D695-91399C24D842}"/>
              </a:ext>
            </a:extLst>
          </p:cNvPr>
          <p:cNvSpPr txBox="1"/>
          <p:nvPr/>
        </p:nvSpPr>
        <p:spPr>
          <a:xfrm>
            <a:off x="4608278" y="1044011"/>
            <a:ext cx="2662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EV </a:t>
            </a:r>
            <a:r>
              <a:rPr lang="ko-KR" altLang="en-US" dirty="0"/>
              <a:t>구동을 위한 모터파워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9483A0-4244-9104-9995-342EC25C4D25}"/>
              </a:ext>
            </a:extLst>
          </p:cNvPr>
          <p:cNvSpPr txBox="1"/>
          <p:nvPr/>
        </p:nvSpPr>
        <p:spPr>
          <a:xfrm>
            <a:off x="3101786" y="3896436"/>
            <a:ext cx="585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모터 구동에 의해 발생되는 열 </a:t>
            </a:r>
            <a:r>
              <a:rPr lang="en-US" altLang="ko-KR" dirty="0"/>
              <a:t>+ </a:t>
            </a:r>
            <a:r>
              <a:rPr lang="ko-KR" altLang="en-US" dirty="0"/>
              <a:t>쿨링에 의해 발생되는 열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330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PMP </a:t>
            </a:r>
            <a:r>
              <a:rPr lang="ko-KR" altLang="en-US" b="1" dirty="0"/>
              <a:t>기반 최적제어 </a:t>
            </a:r>
            <a:r>
              <a:rPr lang="en-US" altLang="ko-KR" b="1" dirty="0"/>
              <a:t>(</a:t>
            </a:r>
            <a:r>
              <a:rPr lang="ko-KR" altLang="en-US" b="1" dirty="0"/>
              <a:t>예시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Constraints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3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E4B58C4-B68C-ED2C-9323-8196F807DC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4E62A9-9247-123D-CB24-C6BFD4E4E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028" y="1482130"/>
            <a:ext cx="6258798" cy="20862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23A59D1-750F-A4D8-5DDC-EDA896E95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500" y="3885721"/>
            <a:ext cx="5763035" cy="20863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0446A-4528-C8DC-699F-E67310B5839F}"/>
              </a:ext>
            </a:extLst>
          </p:cNvPr>
          <p:cNvSpPr txBox="1"/>
          <p:nvPr/>
        </p:nvSpPr>
        <p:spPr>
          <a:xfrm>
            <a:off x="7942217" y="3950878"/>
            <a:ext cx="37337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알아야 할 정보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SOC dynamics (</a:t>
            </a:r>
            <a:r>
              <a:rPr lang="ko-KR" altLang="en-US" dirty="0"/>
              <a:t>열화 고려해서</a:t>
            </a:r>
            <a:r>
              <a:rPr lang="en-US" altLang="ko-KR" dirty="0"/>
              <a:t>?)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열 관련 정보</a:t>
            </a:r>
          </a:p>
        </p:txBody>
      </p:sp>
    </p:spTree>
    <p:extLst>
      <p:ext uri="{BB962C8B-B14F-4D97-AF65-F5344CB8AC3E}">
        <p14:creationId xmlns:p14="http://schemas.microsoft.com/office/powerpoint/2010/main" val="89761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PMP </a:t>
            </a:r>
            <a:r>
              <a:rPr lang="ko-KR" altLang="en-US" b="1" dirty="0"/>
              <a:t>기반 최적제어 </a:t>
            </a:r>
            <a:r>
              <a:rPr lang="en-US" altLang="ko-KR" b="1" dirty="0"/>
              <a:t>(</a:t>
            </a:r>
            <a:r>
              <a:rPr lang="ko-KR" altLang="en-US" b="1" dirty="0"/>
              <a:t>예시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최적화 문제 </a:t>
            </a:r>
            <a:r>
              <a:rPr lang="en-US" altLang="ko-KR" dirty="0"/>
              <a:t>formulation: objective function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4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E4B58C4-B68C-ED2C-9323-8196F807DC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5801855-0316-F1F9-6295-52FE38240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853" y="1712710"/>
            <a:ext cx="6226755" cy="10392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06F31E9-8BEC-9B79-CBFE-FFB0F05C0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78" y="2979106"/>
            <a:ext cx="6027568" cy="31263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E69D2B8-7D90-56BE-A703-1C0F46D4B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519" y="4456349"/>
            <a:ext cx="4952833" cy="4365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8B7E70-4E22-3A05-1918-6877F4CFCD30}"/>
              </a:ext>
            </a:extLst>
          </p:cNvPr>
          <p:cNvSpPr txBox="1"/>
          <p:nvPr/>
        </p:nvSpPr>
        <p:spPr>
          <a:xfrm>
            <a:off x="6353764" y="3941413"/>
            <a:ext cx="3895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최소화해야 할 목적함수</a:t>
            </a:r>
            <a:r>
              <a:rPr lang="en-US" altLang="ko-KR" dirty="0"/>
              <a:t>: SOC </a:t>
            </a:r>
            <a:r>
              <a:rPr lang="ko-KR" altLang="en-US" dirty="0"/>
              <a:t>에너지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C7BE4E6-F508-9220-8890-AD42B1DD4638}"/>
              </a:ext>
            </a:extLst>
          </p:cNvPr>
          <p:cNvCxnSpPr>
            <a:cxnSpLocks/>
          </p:cNvCxnSpPr>
          <p:nvPr/>
        </p:nvCxnSpPr>
        <p:spPr>
          <a:xfrm flipH="1">
            <a:off x="8301573" y="4310745"/>
            <a:ext cx="171867" cy="262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E6C756-B7BA-FBE0-6121-893C78F32CB3}"/>
              </a:ext>
            </a:extLst>
          </p:cNvPr>
          <p:cNvSpPr txBox="1"/>
          <p:nvPr/>
        </p:nvSpPr>
        <p:spPr>
          <a:xfrm>
            <a:off x="7930016" y="5317550"/>
            <a:ext cx="189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열 제약조건 관련</a:t>
            </a:r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26E0929-2D85-D76A-CB6C-006D5F758BBE}"/>
              </a:ext>
            </a:extLst>
          </p:cNvPr>
          <p:cNvCxnSpPr>
            <a:cxnSpLocks/>
          </p:cNvCxnSpPr>
          <p:nvPr/>
        </p:nvCxnSpPr>
        <p:spPr>
          <a:xfrm flipH="1">
            <a:off x="9043855" y="4962913"/>
            <a:ext cx="171867" cy="262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59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PMP </a:t>
            </a:r>
            <a:r>
              <a:rPr lang="ko-KR" altLang="en-US" b="1" dirty="0"/>
              <a:t>기반 최적제어 </a:t>
            </a:r>
            <a:r>
              <a:rPr lang="en-US" altLang="ko-KR" b="1" dirty="0"/>
              <a:t>(</a:t>
            </a:r>
            <a:r>
              <a:rPr lang="ko-KR" altLang="en-US" b="1" dirty="0"/>
              <a:t>예시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최적화 문제를 풀기 위한 </a:t>
            </a:r>
            <a:r>
              <a:rPr lang="en-US" altLang="ko-KR" dirty="0"/>
              <a:t>necessary condition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모델이 너무 복잡하다 </a:t>
            </a:r>
            <a:r>
              <a:rPr lang="en-US" altLang="ko-KR" dirty="0"/>
              <a:t>(</a:t>
            </a:r>
            <a:r>
              <a:rPr lang="ko-KR" altLang="en-US" dirty="0"/>
              <a:t>미분을 하기 힘듦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테일러 근사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5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E4B58C4-B68C-ED2C-9323-8196F807DC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40BC22-07DB-795A-1DEB-3A750D283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684" y="1755952"/>
            <a:ext cx="6330679" cy="186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7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DDA3C-1E53-2295-B3FB-0FA9AAF4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PMP </a:t>
            </a:r>
            <a:r>
              <a:rPr lang="ko-KR" altLang="en-US" b="1" dirty="0"/>
              <a:t>기반 최적제어 </a:t>
            </a:r>
            <a:r>
              <a:rPr lang="en-US" altLang="ko-KR" b="1" dirty="0"/>
              <a:t>(</a:t>
            </a:r>
            <a:r>
              <a:rPr lang="ko-KR" altLang="en-US" b="1" dirty="0"/>
              <a:t>예시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C3F17A-299B-5508-6569-1E80F4210B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85CDE0-D5D9-4C7F-0B69-E95EEB07A55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6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DD037FF-DAF3-8F5A-8DAE-6541290752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4DCE96-69AB-BA3F-99F1-92EB9D6A6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414" y="1199507"/>
            <a:ext cx="6442233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6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DDA3C-1E53-2295-B3FB-0FA9AAF4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PMP </a:t>
            </a:r>
            <a:r>
              <a:rPr lang="ko-KR" altLang="en-US" b="1" dirty="0"/>
              <a:t>기반 최적제어 </a:t>
            </a:r>
            <a:r>
              <a:rPr lang="en-US" altLang="ko-KR" b="1" dirty="0"/>
              <a:t>(</a:t>
            </a:r>
            <a:r>
              <a:rPr lang="ko-KR" altLang="en-US" b="1" dirty="0"/>
              <a:t>예시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C3F17A-299B-5508-6569-1E80F4210B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85CDE0-D5D9-4C7F-0B69-E95EEB07A55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7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DD037FF-DAF3-8F5A-8DAE-6541290752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605502-1904-F511-5810-38E14A062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585" y="1668011"/>
            <a:ext cx="7472193" cy="336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1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7602EBA-67EF-F63C-9335-F71A96870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/>
          <a:p>
            <a:r>
              <a:rPr lang="ko-KR" altLang="en-US" dirty="0"/>
              <a:t>경량화 기반 </a:t>
            </a:r>
            <a:r>
              <a:rPr lang="en-US" altLang="ko-KR" dirty="0"/>
              <a:t>SOC, </a:t>
            </a:r>
            <a:r>
              <a:rPr lang="ko-KR" altLang="en-US" dirty="0"/>
              <a:t>온도 다이나믹 </a:t>
            </a:r>
            <a:r>
              <a:rPr lang="en-US" altLang="ko-KR" dirty="0"/>
              <a:t>/ </a:t>
            </a:r>
            <a:r>
              <a:rPr lang="ko-KR" altLang="en-US" dirty="0" err="1"/>
              <a:t>해밀토니안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87DDA3C-1E53-2295-B3FB-0FA9AAF4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PMP </a:t>
            </a:r>
            <a:r>
              <a:rPr lang="ko-KR" altLang="en-US" b="1" dirty="0"/>
              <a:t>기반 최적제어 </a:t>
            </a:r>
            <a:r>
              <a:rPr lang="en-US" altLang="ko-KR" b="1" dirty="0"/>
              <a:t>(</a:t>
            </a:r>
            <a:r>
              <a:rPr lang="ko-KR" altLang="en-US" b="1" dirty="0"/>
              <a:t>예시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C3F17A-299B-5508-6569-1E80F4210B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85CDE0-D5D9-4C7F-0B69-E95EEB07A55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8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DD037FF-DAF3-8F5A-8DAE-6541290752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F802C73-0F4C-3B0F-B283-B1A72BAB8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87" y="1934186"/>
            <a:ext cx="5027762" cy="29213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66D258D-525C-7FA2-6ED3-380E4D38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092" y="2325345"/>
            <a:ext cx="5060192" cy="24406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0B2118-5A7B-1414-09D5-45C3BACB4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992" y="112707"/>
            <a:ext cx="2210541" cy="21983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82937D-8258-03FB-CA7B-A42A5492BAB9}"/>
              </a:ext>
            </a:extLst>
          </p:cNvPr>
          <p:cNvSpPr txBox="1"/>
          <p:nvPr/>
        </p:nvSpPr>
        <p:spPr>
          <a:xfrm>
            <a:off x="625165" y="5343018"/>
            <a:ext cx="480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논문은 배터리의 열화를 고려하지는 않음</a:t>
            </a:r>
          </a:p>
        </p:txBody>
      </p:sp>
    </p:spTree>
    <p:extLst>
      <p:ext uri="{BB962C8B-B14F-4D97-AF65-F5344CB8AC3E}">
        <p14:creationId xmlns:p14="http://schemas.microsoft.com/office/powerpoint/2010/main" val="228629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659E1-6802-EE8E-EAF7-46B3FF85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요청사항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05BC49-726D-78E5-C574-D4F5332522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배터리의 </a:t>
            </a:r>
            <a:r>
              <a:rPr lang="en-US" altLang="ko-KR" dirty="0"/>
              <a:t>SOC </a:t>
            </a:r>
            <a:r>
              <a:rPr lang="ko-KR" altLang="en-US" dirty="0"/>
              <a:t>동역학 또는 열 동역학을 </a:t>
            </a:r>
            <a:r>
              <a:rPr lang="en-US" altLang="ko-KR" dirty="0"/>
              <a:t>surrogate model</a:t>
            </a:r>
            <a:r>
              <a:rPr lang="ko-KR" altLang="en-US" dirty="0"/>
              <a:t>로 표현할 수 있을지 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en-US" altLang="ko-KR" dirty="0"/>
              <a:t>polynomial </a:t>
            </a:r>
            <a:r>
              <a:rPr lang="ko-KR" altLang="en-US" dirty="0"/>
              <a:t>식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결국 최적화를 수행하기 위해서는 </a:t>
            </a:r>
            <a:r>
              <a:rPr lang="en-US" altLang="ko-KR" dirty="0"/>
              <a:t>necessary condition </a:t>
            </a:r>
            <a:r>
              <a:rPr lang="ko-KR" altLang="en-US" dirty="0"/>
              <a:t>기반으로 상태들에 대한 </a:t>
            </a:r>
            <a:r>
              <a:rPr lang="en-US" altLang="ko-KR" dirty="0"/>
              <a:t>soc</a:t>
            </a:r>
            <a:r>
              <a:rPr lang="ko-KR" altLang="en-US" dirty="0"/>
              <a:t>동역학 또는 열 동역학의 미분이 </a:t>
            </a:r>
            <a:r>
              <a:rPr lang="en-US" altLang="ko-KR" dirty="0"/>
              <a:t>0</a:t>
            </a:r>
            <a:r>
              <a:rPr lang="ko-KR" altLang="en-US" dirty="0"/>
              <a:t>이 되는 지점을 찾아야 함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너무 식이 복잡하면 계산이 복잡하며 </a:t>
            </a:r>
            <a:r>
              <a:rPr lang="en-US" altLang="ko-KR" dirty="0">
                <a:sym typeface="Wingdings" panose="05000000000000000000" pitchFamily="2" charset="2"/>
              </a:rPr>
              <a:t>numerical </a:t>
            </a:r>
            <a:r>
              <a:rPr lang="ko-KR" altLang="en-US" dirty="0">
                <a:sym typeface="Wingdings" panose="05000000000000000000" pitchFamily="2" charset="2"/>
              </a:rPr>
              <a:t>방법론으로 구할 수는 있지만 </a:t>
            </a:r>
            <a:r>
              <a:rPr lang="ko-KR" altLang="en-US" dirty="0" err="1">
                <a:sym typeface="Wingdings" panose="05000000000000000000" pitchFamily="2" charset="2"/>
              </a:rPr>
              <a:t>연산량</a:t>
            </a:r>
            <a:r>
              <a:rPr lang="ko-KR" altLang="en-US" dirty="0">
                <a:sym typeface="Wingdings" panose="05000000000000000000" pitchFamily="2" charset="2"/>
              </a:rPr>
              <a:t> 증가 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현재 모델링 하고 있는 배터리와 매칭되는 적절한 시뮬레이션 환경 구성 필요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최적화를 수행하기 위해서는 교통 및 주행정보 필요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무엇을 에너지 최적화를 할 지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e.g., </a:t>
            </a:r>
            <a:r>
              <a:rPr lang="ko-KR" altLang="en-US" dirty="0"/>
              <a:t>배터리</a:t>
            </a:r>
            <a:r>
              <a:rPr lang="ko-KR" altLang="en-US" dirty="0">
                <a:sym typeface="Wingdings" panose="05000000000000000000" pitchFamily="2" charset="2"/>
              </a:rPr>
              <a:t> 에너지 </a:t>
            </a:r>
            <a:r>
              <a:rPr lang="en-US" altLang="ko-KR" dirty="0">
                <a:sym typeface="Wingdings" panose="05000000000000000000" pitchFamily="2" charset="2"/>
              </a:rPr>
              <a:t>+ </a:t>
            </a:r>
            <a:r>
              <a:rPr lang="ko-KR" altLang="en-US" dirty="0">
                <a:sym typeface="Wingdings" panose="05000000000000000000" pitchFamily="2" charset="2"/>
              </a:rPr>
              <a:t>배터리 온도 쿨링을 위한 </a:t>
            </a:r>
            <a:r>
              <a:rPr lang="en-US" altLang="ko-KR" dirty="0">
                <a:sym typeface="Wingdings" panose="05000000000000000000" pitchFamily="2" charset="2"/>
              </a:rPr>
              <a:t>system (</a:t>
            </a:r>
            <a:r>
              <a:rPr lang="ko-KR" altLang="en-US" dirty="0">
                <a:sym typeface="Wingdings" panose="05000000000000000000" pitchFamily="2" charset="2"/>
              </a:rPr>
              <a:t>배터리 온도 또는 </a:t>
            </a:r>
            <a:r>
              <a:rPr lang="en-US" altLang="ko-KR" dirty="0">
                <a:sym typeface="Wingdings" panose="05000000000000000000" pitchFamily="2" charset="2"/>
              </a:rPr>
              <a:t>cabin </a:t>
            </a:r>
            <a:r>
              <a:rPr lang="ko-KR" altLang="en-US" dirty="0">
                <a:sym typeface="Wingdings" panose="05000000000000000000" pitchFamily="2" charset="2"/>
              </a:rPr>
              <a:t>온도 고려하여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C7473F-09C9-D612-8B0E-ABEB1280C0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9B0C71-0352-E148-947F-72CCB707A2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9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5DB7AD6-4B73-D3ED-BE89-B0A017BDE1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85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69B87F-B9DB-577D-0BBF-2AF3146FA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6EA41F-CD0B-0B23-167E-3690B175B81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10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D0220C2-0C49-A69A-7340-769E62E558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CE6784-9EA2-9305-5F76-8BDEDF7DD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164" y="590196"/>
            <a:ext cx="9192908" cy="50680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033252-FD50-85A7-885F-73F2954B66AB}"/>
              </a:ext>
            </a:extLst>
          </p:cNvPr>
          <p:cNvSpPr txBox="1"/>
          <p:nvPr/>
        </p:nvSpPr>
        <p:spPr>
          <a:xfrm>
            <a:off x="8588095" y="1809396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Coolant</a:t>
            </a:r>
            <a:r>
              <a:rPr lang="ko-KR" altLang="en-US" dirty="0"/>
              <a:t>에 대한 실측 정보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0F3AB-1AD1-ACE9-5543-C7B353FDA393}"/>
              </a:ext>
            </a:extLst>
          </p:cNvPr>
          <p:cNvSpPr txBox="1"/>
          <p:nvPr/>
        </p:nvSpPr>
        <p:spPr>
          <a:xfrm>
            <a:off x="4681189" y="4508697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배터리에 대한 실측 정보</a:t>
            </a:r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729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6761D-7CD9-E041-E739-03C41D7041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461E95-8745-E781-CC5C-330A422211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11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4448AF-DB48-9499-38F6-090EC052BD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06BE87-F622-C07F-053F-7A6F62932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54" y="1231036"/>
            <a:ext cx="6964830" cy="36188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CF71092-AFEB-AC2C-087F-DBC25F881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784" y="548809"/>
            <a:ext cx="4903283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5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6761D-7CD9-E041-E739-03C41D7041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461E95-8745-E781-CC5C-330A422211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12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4448AF-DB48-9499-38F6-090EC052BD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2E6180F-0488-241F-47A7-ECCD066B0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65" y="930238"/>
            <a:ext cx="6520275" cy="45663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7AE8CEB-B500-5CC3-5F53-235A8CCC8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161" y="484234"/>
            <a:ext cx="4235674" cy="36058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BF9DC41-1752-FB56-5C12-1F9E8A087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526" y="3168927"/>
            <a:ext cx="4196309" cy="1842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856C14-16CD-6159-4CF8-7B2D4D9D4DF7}"/>
              </a:ext>
            </a:extLst>
          </p:cNvPr>
          <p:cNvSpPr txBox="1"/>
          <p:nvPr/>
        </p:nvSpPr>
        <p:spPr>
          <a:xfrm flipH="1">
            <a:off x="1772156" y="5743096"/>
            <a:ext cx="884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LUT </a:t>
            </a:r>
            <a:r>
              <a:rPr lang="ko-KR" altLang="en-US" dirty="0"/>
              <a:t>기반 </a:t>
            </a:r>
            <a:r>
              <a:rPr lang="en-US" altLang="ko-KR" dirty="0"/>
              <a:t>DP VS </a:t>
            </a:r>
            <a:r>
              <a:rPr lang="ko-KR" altLang="en-US" dirty="0" err="1"/>
              <a:t>경량화된</a:t>
            </a:r>
            <a:r>
              <a:rPr lang="ko-KR" altLang="en-US" dirty="0"/>
              <a:t> 배터리 모델 기반 최적 제어 기법 제안 </a:t>
            </a:r>
            <a:r>
              <a:rPr lang="en-US" altLang="ko-KR" dirty="0"/>
              <a:t>VS </a:t>
            </a:r>
            <a:r>
              <a:rPr lang="ko-KR" altLang="en-US" dirty="0"/>
              <a:t>기존의 </a:t>
            </a:r>
            <a:r>
              <a:rPr lang="en-US" altLang="ko-KR" dirty="0"/>
              <a:t>A-PMP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194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31102</TotalTime>
  <Words>282</Words>
  <Application>Microsoft Office PowerPoint</Application>
  <PresentationFormat>와이드스크린</PresentationFormat>
  <Paragraphs>77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NanumBarunGothic</vt:lpstr>
      <vt:lpstr>나눔바른고딕</vt:lpstr>
      <vt:lpstr>Arial</vt:lpstr>
      <vt:lpstr>Times New Roman</vt:lpstr>
      <vt:lpstr>Wingdings</vt:lpstr>
      <vt:lpstr>Office Theme</vt:lpstr>
      <vt:lpstr>PowerPoint 프레젠테이션</vt:lpstr>
      <vt:lpstr>Battery System Model</vt:lpstr>
      <vt:lpstr>PMP 기반 최적제어 (예시)</vt:lpstr>
      <vt:lpstr>PMP 기반 최적제어 (예시)</vt:lpstr>
      <vt:lpstr>PMP 기반 최적제어 (예시)</vt:lpstr>
      <vt:lpstr>PMP 기반 최적제어 (예시)</vt:lpstr>
      <vt:lpstr>PMP 기반 최적제어 (예시)</vt:lpstr>
      <vt:lpstr>PMP 기반 최적제어 (예시)</vt:lpstr>
      <vt:lpstr>요청사항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띵</dc:creator>
  <cp:lastModifiedBy>Seunghun Jang</cp:lastModifiedBy>
  <cp:revision>309</cp:revision>
  <dcterms:created xsi:type="dcterms:W3CDTF">2024-10-18T07:32:01Z</dcterms:created>
  <dcterms:modified xsi:type="dcterms:W3CDTF">2025-09-25T05:48:00Z</dcterms:modified>
</cp:coreProperties>
</file>