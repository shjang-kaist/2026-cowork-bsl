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929" r:id="rId2"/>
    <p:sldId id="2970" r:id="rId3"/>
    <p:sldId id="2972" r:id="rId4"/>
    <p:sldId id="2971" r:id="rId5"/>
    <p:sldId id="2973" r:id="rId6"/>
    <p:sldId id="2974" r:id="rId7"/>
    <p:sldId id="2975" r:id="rId8"/>
    <p:sldId id="2976" r:id="rId9"/>
    <p:sldId id="2977" r:id="rId10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11CBA-3F2A-1399-FFF7-ABF99BDB0604}" name="Seunghun Jang" initials="SJ" userId="3fc171b04cfc4c4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C1C1C1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15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C139193-1395-414A-BA2C-F3819417EE00}" type="datetimeFigureOut">
              <a:rPr lang="en-KR" smtClean="0"/>
              <a:pPr/>
              <a:t>07/30/2025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AC991DE-395F-A84E-B09A-BE67D13F61E4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254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b="0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6068A-C293-4585-A9A4-94D713860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39A8B74-48F0-B9D0-5C57-2C0E54B58F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8937" y="1353600"/>
            <a:ext cx="5891213" cy="609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Subtitle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3DFCBDE0-E7B2-AF13-891A-40DDE6383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8646" y="1882800"/>
            <a:ext cx="7795934" cy="119606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6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20000"/>
              </a:lnSpc>
            </a:pPr>
            <a:r>
              <a:rPr lang="en-US" altLang="ko-KR" sz="3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Title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1BB0C16F-8DAE-CCAE-2966-D27480CA73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4400" y="3103200"/>
            <a:ext cx="6044400" cy="2131200"/>
          </a:xfrm>
        </p:spPr>
        <p:txBody>
          <a:bodyPr anchor="t" anchorCtr="0">
            <a:spAutoFit/>
          </a:bodyPr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Name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Ph.D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student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0x. 0x. (x)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15268-C4FF-FFCD-B81B-195E432417DA}"/>
              </a:ext>
            </a:extLst>
          </p:cNvPr>
          <p:cNvGrpSpPr/>
          <p:nvPr userDrawn="1"/>
        </p:nvGrpSpPr>
        <p:grpSpPr>
          <a:xfrm>
            <a:off x="4246850" y="5700249"/>
            <a:ext cx="3679525" cy="665106"/>
            <a:chOff x="5797756" y="5807704"/>
            <a:chExt cx="3679525" cy="665106"/>
          </a:xfrm>
        </p:grpSpPr>
        <p:pic>
          <p:nvPicPr>
            <p:cNvPr id="2" name="Picture 1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3969C60D-9E77-264C-6228-2935F9CC1C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b="18889"/>
            <a:stretch>
              <a:fillRect/>
            </a:stretch>
          </p:blipFill>
          <p:spPr>
            <a:xfrm>
              <a:off x="8014200" y="5980305"/>
              <a:ext cx="1463081" cy="421836"/>
            </a:xfrm>
            <a:prstGeom prst="rect">
              <a:avLst/>
            </a:prstGeom>
          </p:spPr>
        </p:pic>
        <p:pic>
          <p:nvPicPr>
            <p:cNvPr id="18" name="그림 2" descr="텍스트, 폰트, 그래픽, 로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C65619-7AE8-C127-8F57-CD80925DB5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372"/>
            <a:stretch/>
          </p:blipFill>
          <p:spPr>
            <a:xfrm>
              <a:off x="5797756" y="5807704"/>
              <a:ext cx="2368952" cy="66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24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6">
            <a:extLst>
              <a:ext uri="{FF2B5EF4-FFF2-40B4-BE49-F238E27FC236}">
                <a16:creationId xmlns:a16="http://schemas.microsoft.com/office/drawing/2014/main" id="{B14AA50B-80C6-1BF7-1314-13B2CA9ACE08}"/>
              </a:ext>
            </a:extLst>
          </p:cNvPr>
          <p:cNvSpPr/>
          <p:nvPr userDrawn="1"/>
        </p:nvSpPr>
        <p:spPr>
          <a:xfrm>
            <a:off x="0" y="0"/>
            <a:ext cx="193675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0" i="0" spc="-12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DDFC7A2-D64C-F8A6-F0ED-8AB43272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6625" y="0"/>
            <a:ext cx="9985375" cy="6858000"/>
          </a:xfrm>
        </p:spPr>
        <p:txBody>
          <a:bodyPr anchor="ctr">
            <a:normAutofit/>
          </a:bodyPr>
          <a:lstStyle>
            <a:lvl1pPr marL="514350" indent="-514350">
              <a:lnSpc>
                <a:spcPct val="150000"/>
              </a:lnSpc>
              <a:buSzPct val="140000"/>
              <a:buFont typeface="+mj-lt"/>
              <a:buAutoNum type="arabicPeriod"/>
              <a:defRPr sz="2800"/>
            </a:lvl1pPr>
            <a:lvl2pPr marL="914400" indent="-457200">
              <a:buSzPct val="140000"/>
              <a:buFont typeface="+mj-lt"/>
              <a:buAutoNum type="arabicPeriod"/>
              <a:defRPr/>
            </a:lvl2pPr>
            <a:lvl3pPr marL="1371600" indent="-457200">
              <a:buSzPct val="140000"/>
              <a:buFont typeface="+mj-lt"/>
              <a:buAutoNum type="arabicPeriod"/>
              <a:defRPr/>
            </a:lvl3pPr>
            <a:lvl4pPr marL="1714500" indent="-342900">
              <a:buSzPct val="140000"/>
              <a:buFont typeface="+mj-lt"/>
              <a:buAutoNum type="arabicPeriod"/>
              <a:defRPr/>
            </a:lvl4pPr>
            <a:lvl5pPr marL="2171700" indent="-342900">
              <a:buSzPct val="14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DE679A-271B-455A-63D3-04DD2E19437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423" y="2566987"/>
            <a:ext cx="1787904" cy="1724025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pPr lvl="0"/>
            <a:r>
              <a:rPr lang="en-US" dirty="0"/>
              <a:t>Contents</a:t>
            </a:r>
          </a:p>
          <a:p>
            <a:pPr lvl="0"/>
            <a:r>
              <a:rPr lang="en-US" dirty="0"/>
              <a:t>or</a:t>
            </a:r>
          </a:p>
          <a:p>
            <a:pPr lvl="0"/>
            <a:r>
              <a:rPr lang="ko-KR" altLang="en-US" dirty="0"/>
              <a:t>목차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4186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5FDC554-BE26-62CD-607B-8AB978076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9931" y="1877218"/>
            <a:ext cx="8212138" cy="3103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0"/>
            </a:lvl1pPr>
          </a:lstStyle>
          <a:p>
            <a:pPr lvl="0"/>
            <a:r>
              <a:rPr lang="en-US" altLang="ko-KR" dirty="0"/>
              <a:t>#.</a:t>
            </a:r>
            <a:r>
              <a:rPr lang="ko-KR" altLang="en-US" dirty="0"/>
              <a:t> </a:t>
            </a:r>
            <a:r>
              <a:rPr lang="en-US" altLang="ko-KR" dirty="0"/>
              <a:t>Section Title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37687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67316644-13C7-6991-644A-048613BCB1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990" y="6289392"/>
            <a:ext cx="11318875" cy="5686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084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BB33A73C-7E47-2063-8C68-C6C55704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38482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FA6715D7-11FA-F29F-1CCE-1788976DAC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1323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5D30FBEE-5BB6-1888-DA11-48946890A5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071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B55BD7AA-A368-0844-3CC4-873702DFC5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252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BB1CEFEF-172D-5C45-859F-BAF79B888C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7C40926D-5D72-76E0-E11C-44EF2A188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27931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>
            <a:extLst>
              <a:ext uri="{FF2B5EF4-FFF2-40B4-BE49-F238E27FC236}">
                <a16:creationId xmlns:a16="http://schemas.microsoft.com/office/drawing/2014/main" id="{FD46EE62-3A8C-A371-14E4-769EC8ADC8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04" y="1661160"/>
            <a:ext cx="3001792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976-E955-F60A-33D9-C13140AD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1015-DAD9-639A-5742-79C01620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36103-2E0B-AE43-2516-4D290BC5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C57D0951-C5F5-354B-A57A-D2E03E77954A}" type="datetime1">
              <a:rPr lang="en-US" smtClean="0"/>
              <a:pPr/>
              <a:t>7/30/2025</a:t>
            </a:fld>
            <a:endParaRPr lang="en-K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11DE-7215-183E-0210-5137AAEC9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5BF8A-A629-41F6-99DE-34F9D4D2C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482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4" r:id="rId6"/>
    <p:sldLayoutId id="2147483652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NanumBarunGothic" panose="020B0603020101020101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87BA604-1151-4261-A75E-BCF05676E13F}"/>
              </a:ext>
            </a:extLst>
          </p:cNvPr>
          <p:cNvSpPr txBox="1"/>
          <p:nvPr/>
        </p:nvSpPr>
        <p:spPr>
          <a:xfrm>
            <a:off x="0" y="1868071"/>
            <a:ext cx="12192000" cy="758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4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BE14-9C1B-46F4-8A7E-9F9AC765F183}"/>
              </a:ext>
            </a:extLst>
          </p:cNvPr>
          <p:cNvSpPr txBox="1"/>
          <p:nvPr/>
        </p:nvSpPr>
        <p:spPr>
          <a:xfrm>
            <a:off x="1677520" y="1352346"/>
            <a:ext cx="883695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주차 미팅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ACE3C4F1-A228-4DDD-9A7D-83A8E2C3DDD3}"/>
              </a:ext>
            </a:extLst>
          </p:cNvPr>
          <p:cNvSpPr txBox="1"/>
          <p:nvPr/>
        </p:nvSpPr>
        <p:spPr>
          <a:xfrm>
            <a:off x="3074304" y="3102296"/>
            <a:ext cx="6044400" cy="213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장승훈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박사과정</a:t>
            </a: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7. 31. 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8B3E05-51AE-49D6-A7E8-B17766087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72"/>
          <a:stretch/>
        </p:blipFill>
        <p:spPr>
          <a:xfrm>
            <a:off x="3936088" y="5844552"/>
            <a:ext cx="2368952" cy="665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7C53D3-BB19-47C7-A6EA-96A2D30782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87"/>
          <a:stretch/>
        </p:blipFill>
        <p:spPr>
          <a:xfrm>
            <a:off x="6234730" y="6029564"/>
            <a:ext cx="1458029" cy="4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Powertrain</a:t>
            </a:r>
            <a:r>
              <a:rPr lang="ko-KR" altLang="en-US" b="1" dirty="0"/>
              <a:t> </a:t>
            </a:r>
            <a:r>
              <a:rPr lang="en-US" altLang="ko-KR" b="1" dirty="0"/>
              <a:t>Components for HEV 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[1]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The state of charge (SOC)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The SOC dynamics</a:t>
            </a:r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Simona, Lorenzo Serrao, and Giorgio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Hybrid electric vehicles: Energy management strategies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13. London, UK: Springer, 2016.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2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47D35E-6C4A-4713-E9CA-32A81AE3C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448" y="1915766"/>
            <a:ext cx="5568358" cy="10020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63E5E6-D835-FECE-3B42-E1EC2D1CD421}"/>
              </a:ext>
            </a:extLst>
          </p:cNvPr>
          <p:cNvSpPr txBox="1"/>
          <p:nvPr/>
        </p:nvSpPr>
        <p:spPr>
          <a:xfrm>
            <a:off x="5104705" y="2767652"/>
            <a:ext cx="2113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Nominal charge capacity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BDF17-856C-9F2F-CD15-C94407AD87C8}"/>
              </a:ext>
            </a:extLst>
          </p:cNvPr>
          <p:cNvSpPr txBox="1"/>
          <p:nvPr/>
        </p:nvSpPr>
        <p:spPr>
          <a:xfrm>
            <a:off x="5028824" y="1755952"/>
            <a:ext cx="28151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Amount of charge currently stored</a:t>
            </a:r>
            <a:endParaRPr lang="ko-KR" altLang="en-US" sz="14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6F57830-576D-6BE0-3CD8-C10C7FC5BFBB}"/>
              </a:ext>
            </a:extLst>
          </p:cNvPr>
          <p:cNvCxnSpPr/>
          <p:nvPr/>
        </p:nvCxnSpPr>
        <p:spPr>
          <a:xfrm flipH="1">
            <a:off x="5677989" y="2063729"/>
            <a:ext cx="418011" cy="174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2A7F73C-49B3-3FC0-22C7-CA7944419166}"/>
              </a:ext>
            </a:extLst>
          </p:cNvPr>
          <p:cNvCxnSpPr>
            <a:cxnSpLocks/>
          </p:cNvCxnSpPr>
          <p:nvPr/>
        </p:nvCxnSpPr>
        <p:spPr>
          <a:xfrm flipH="1" flipV="1">
            <a:off x="5677989" y="2631496"/>
            <a:ext cx="349438" cy="131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0FAD988D-E4B5-C2C3-97AC-2BCFF7BE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845" y="4049783"/>
            <a:ext cx="5641232" cy="949965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FF6C5E7-848F-2B09-F407-B7A524CCE9B3}"/>
              </a:ext>
            </a:extLst>
          </p:cNvPr>
          <p:cNvCxnSpPr/>
          <p:nvPr/>
        </p:nvCxnSpPr>
        <p:spPr>
          <a:xfrm flipH="1">
            <a:off x="6359627" y="4006541"/>
            <a:ext cx="418011" cy="174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55EA0C3-390F-2BD9-F698-ADB5FC32FAA8}"/>
              </a:ext>
            </a:extLst>
          </p:cNvPr>
          <p:cNvSpPr txBox="1"/>
          <p:nvPr/>
        </p:nvSpPr>
        <p:spPr>
          <a:xfrm>
            <a:off x="6814081" y="3829541"/>
            <a:ext cx="2277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Battery current ( discharge)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92FF4-E8E2-B431-C2C4-4D9E40ACE9E6}"/>
              </a:ext>
            </a:extLst>
          </p:cNvPr>
          <p:cNvSpPr txBox="1"/>
          <p:nvPr/>
        </p:nvSpPr>
        <p:spPr>
          <a:xfrm>
            <a:off x="6814081" y="5108537"/>
            <a:ext cx="2047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Battery current ( charge)</a:t>
            </a:r>
            <a:endParaRPr lang="ko-KR" altLang="en-US" sz="14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8095126-E53E-B083-F951-538737253B68}"/>
              </a:ext>
            </a:extLst>
          </p:cNvPr>
          <p:cNvCxnSpPr>
            <a:cxnSpLocks/>
          </p:cNvCxnSpPr>
          <p:nvPr/>
        </p:nvCxnSpPr>
        <p:spPr>
          <a:xfrm flipH="1" flipV="1">
            <a:off x="6359627" y="4880461"/>
            <a:ext cx="319847" cy="292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D6C3B3D-059B-D48E-7AF3-04CD8BBE8C5B}"/>
              </a:ext>
            </a:extLst>
          </p:cNvPr>
          <p:cNvSpPr txBox="1"/>
          <p:nvPr/>
        </p:nvSpPr>
        <p:spPr>
          <a:xfrm>
            <a:off x="4145830" y="3467457"/>
            <a:ext cx="1840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Coulombic</a:t>
            </a:r>
            <a:r>
              <a:rPr lang="ko-KR" altLang="en-US" sz="1400" dirty="0"/>
              <a:t> </a:t>
            </a:r>
            <a:r>
              <a:rPr lang="en-US" altLang="ko-KR" sz="1400" dirty="0"/>
              <a:t>efficiency</a:t>
            </a:r>
            <a:endParaRPr lang="ko-KR" altLang="en-US" sz="1400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FD00CAA-FC39-E6F7-387D-A41315EFF34B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065890" y="3775234"/>
            <a:ext cx="38815" cy="405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Powertrain</a:t>
            </a:r>
            <a:r>
              <a:rPr lang="ko-KR" altLang="en-US" b="1" dirty="0"/>
              <a:t> </a:t>
            </a:r>
            <a:r>
              <a:rPr lang="en-US" altLang="ko-KR" b="1" dirty="0"/>
              <a:t>Components for HEV 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[1]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Battery equivalent circuit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Terminal</a:t>
            </a:r>
            <a:r>
              <a:rPr lang="ko-KR" altLang="en-US" dirty="0"/>
              <a:t>에 </a:t>
            </a:r>
            <a:r>
              <a:rPr lang="en-US" altLang="ko-KR" dirty="0"/>
              <a:t>load</a:t>
            </a:r>
            <a:r>
              <a:rPr lang="ko-KR" altLang="en-US" dirty="0"/>
              <a:t>가 연결되었을 때 </a:t>
            </a:r>
            <a:r>
              <a:rPr lang="en-US" altLang="ko-KR" dirty="0"/>
              <a:t>current direction, SOC, temperature</a:t>
            </a:r>
            <a:r>
              <a:rPr lang="ko-KR" altLang="en-US" dirty="0"/>
              <a:t>에 따라</a:t>
            </a:r>
            <a:r>
              <a:rPr lang="en-US" altLang="ko-KR" dirty="0"/>
              <a:t> C, R </a:t>
            </a:r>
            <a:r>
              <a:rPr lang="ko-KR" altLang="en-US" dirty="0"/>
              <a:t>달라짐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 maps (rule-based) table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 e.g., R0 = f(SOC, T, I), C0 = g(SOC, T, I)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The battery circuit model w/o voltage dynamics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Terminal power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Simona, Lorenzo Serrao, and Giorgio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Hybrid electric vehicles: Energy management strategies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13. London, UK: Springer, 2016.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3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E4C4AD-38EA-AF27-BC1D-29DB0FBEC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680" y="1395739"/>
            <a:ext cx="3436136" cy="141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8128EF5-F255-9DC0-BF7C-AC05C57E7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403" y="4939780"/>
            <a:ext cx="6162412" cy="52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9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Powertrain</a:t>
            </a:r>
            <a:r>
              <a:rPr lang="ko-KR" altLang="en-US" b="1" dirty="0"/>
              <a:t> </a:t>
            </a:r>
            <a:r>
              <a:rPr lang="en-US" altLang="ko-KR" b="1" dirty="0"/>
              <a:t>Components for HEV 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[1]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1"/>
            <a:r>
              <a:rPr lang="en-US" altLang="ko-KR" dirty="0">
                <a:sym typeface="Wingdings" panose="05000000000000000000" pitchFamily="2" charset="2"/>
              </a:rPr>
              <a:t>An explicit expression of the current as a function of power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Open circuit voltage </a:t>
            </a:r>
            <a:r>
              <a:rPr lang="en-US" altLang="ko-KR" dirty="0" err="1">
                <a:sym typeface="Wingdings" panose="05000000000000000000" pitchFamily="2" charset="2"/>
              </a:rPr>
              <a:t>Voc</a:t>
            </a:r>
            <a:r>
              <a:rPr lang="en-US" altLang="ko-KR" dirty="0">
                <a:sym typeface="Wingdings" panose="05000000000000000000" pitchFamily="2" charset="2"/>
              </a:rPr>
              <a:t>  a function of the SOC, temperature i.e., </a:t>
            </a:r>
            <a:r>
              <a:rPr lang="en-US" altLang="ko-KR" dirty="0" err="1">
                <a:sym typeface="Wingdings" panose="05000000000000000000" pitchFamily="2" charset="2"/>
              </a:rPr>
              <a:t>Voc</a:t>
            </a:r>
            <a:r>
              <a:rPr lang="en-US" altLang="ko-KR" dirty="0">
                <a:sym typeface="Wingdings" panose="05000000000000000000" pitchFamily="2" charset="2"/>
              </a:rPr>
              <a:t> = f(SOC, T, I,…)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Simona, Lorenzo Serrao, and Giorgio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Hybrid electric vehicles: Energy management strategies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13. London, UK: Springer, 2016.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4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6CC7B50-4F76-66F2-47A1-859218334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652" y="1755952"/>
            <a:ext cx="5472060" cy="8458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6B42090-A7E4-C650-B1D6-49E49C72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230"/>
          <a:stretch/>
        </p:blipFill>
        <p:spPr>
          <a:xfrm>
            <a:off x="1028661" y="3551475"/>
            <a:ext cx="4491524" cy="214393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07D5D2-5A9A-1BE3-F2E8-73638A12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1" t="47275" r="-2331" b="1682"/>
          <a:stretch/>
        </p:blipFill>
        <p:spPr>
          <a:xfrm>
            <a:off x="6192682" y="3548536"/>
            <a:ext cx="4491524" cy="239090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4219770-629B-3496-EEEF-AD8FFEF9F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1" t="90319" r="-2331" b="1682"/>
          <a:stretch/>
        </p:blipFill>
        <p:spPr>
          <a:xfrm>
            <a:off x="1101996" y="5583425"/>
            <a:ext cx="4491524" cy="3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Powertrain</a:t>
            </a:r>
            <a:r>
              <a:rPr lang="ko-KR" altLang="en-US" b="1" dirty="0"/>
              <a:t> </a:t>
            </a:r>
            <a:r>
              <a:rPr lang="en-US" altLang="ko-KR" b="1" dirty="0"/>
              <a:t>Components for HEV 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[1]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Problem Formulation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System Dynamics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Simona, Lorenzo Serrao, and Giorgio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Hybrid electric vehicles: Energy management strategies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13. London, UK: Springer, 2016.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5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566B0F-1002-69D9-19B6-52DE04E15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830" y="1599455"/>
            <a:ext cx="6432241" cy="944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ACB6AB-90A3-3EBD-39C4-956225EED116}"/>
              </a:ext>
            </a:extLst>
          </p:cNvPr>
          <p:cNvSpPr txBox="1"/>
          <p:nvPr/>
        </p:nvSpPr>
        <p:spPr>
          <a:xfrm>
            <a:off x="3838718" y="2711879"/>
            <a:ext cx="25638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Mass flow rate of fueled in HEV</a:t>
            </a:r>
            <a:endParaRPr lang="ko-KR" altLang="en-US" sz="1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DBA2EEF-D2F4-CA8D-8E0E-7BE96FDB52A1}"/>
              </a:ext>
            </a:extLst>
          </p:cNvPr>
          <p:cNvCxnSpPr>
            <a:cxnSpLocks/>
          </p:cNvCxnSpPr>
          <p:nvPr/>
        </p:nvCxnSpPr>
        <p:spPr>
          <a:xfrm flipH="1" flipV="1">
            <a:off x="5042263" y="2378241"/>
            <a:ext cx="156754" cy="292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9199EE3-1863-B015-F64D-A6E73A708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30" y="3877503"/>
            <a:ext cx="6196050" cy="10786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4D0740-F0EE-8605-106D-D4FB1B982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734" y="5122215"/>
            <a:ext cx="3188565" cy="33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4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7067108-B9AB-94EB-D785-64EDA0C35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382" y="1339320"/>
            <a:ext cx="7450721" cy="12453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Powertrain</a:t>
            </a:r>
            <a:r>
              <a:rPr lang="ko-KR" altLang="en-US" b="1" dirty="0"/>
              <a:t> </a:t>
            </a:r>
            <a:r>
              <a:rPr lang="en-US" altLang="ko-KR" b="1" dirty="0"/>
              <a:t>Components for HEV </a:t>
            </a:r>
            <a:r>
              <a:rPr lang="en-US" altLang="ko-KR" b="1" dirty="0">
                <a:solidFill>
                  <a:schemeClr val="bg2">
                    <a:lumMod val="75000"/>
                  </a:schemeClr>
                </a:solidFill>
              </a:rPr>
              <a:t>[1]</a:t>
            </a:r>
            <a:endParaRPr lang="ko-KR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System Dynamics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General form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Simona, Lorenzo Serrao, and Giorgio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Hybrid electric vehicles: Energy management strategies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13. London, UK: Springer, 2016.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6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5A70B6-5480-12AD-3E11-7B1F2E51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100" y="2699043"/>
            <a:ext cx="8717558" cy="7085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F8005D-6823-A65B-14A5-D8951EC8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050" y="3702781"/>
            <a:ext cx="5581957" cy="64558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0CB44D-F5E7-E492-0DD9-10ABF5D9B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487" y="4448337"/>
            <a:ext cx="4801879" cy="39039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3F6C1BA-D574-5075-0011-71F1AF01E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1328" y="5063396"/>
            <a:ext cx="5045581" cy="9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6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B06E4D-7024-9A4A-0894-64168022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64" y="2019568"/>
            <a:ext cx="5940965" cy="8573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State of energy estimation of batteries w/ neural network model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[2]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The state of Energy (SOE) 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Dong,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Guangzhong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"A method for state of energy estimation of lithium-ion batteries based on neural network model."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90 (2015): 879-888.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7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3E5E6-D835-FECE-3B42-E1EC2D1CD421}"/>
              </a:ext>
            </a:extLst>
          </p:cNvPr>
          <p:cNvSpPr txBox="1"/>
          <p:nvPr/>
        </p:nvSpPr>
        <p:spPr>
          <a:xfrm>
            <a:off x="5665474" y="2995448"/>
            <a:ext cx="1794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Nominal total energy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BDF17-856C-9F2F-CD15-C94407AD87C8}"/>
              </a:ext>
            </a:extLst>
          </p:cNvPr>
          <p:cNvSpPr txBox="1"/>
          <p:nvPr/>
        </p:nvSpPr>
        <p:spPr>
          <a:xfrm>
            <a:off x="5464419" y="1602063"/>
            <a:ext cx="1958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Effective battery power</a:t>
            </a:r>
            <a:endParaRPr lang="ko-KR" altLang="en-US" sz="14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6F57830-576D-6BE0-3CD8-C10C7FC5BFBB}"/>
              </a:ext>
            </a:extLst>
          </p:cNvPr>
          <p:cNvCxnSpPr/>
          <p:nvPr/>
        </p:nvCxnSpPr>
        <p:spPr>
          <a:xfrm flipH="1">
            <a:off x="6113584" y="1909840"/>
            <a:ext cx="418011" cy="174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2A7F73C-49B3-3FC0-22C7-CA7944419166}"/>
              </a:ext>
            </a:extLst>
          </p:cNvPr>
          <p:cNvCxnSpPr>
            <a:cxnSpLocks/>
          </p:cNvCxnSpPr>
          <p:nvPr/>
        </p:nvCxnSpPr>
        <p:spPr>
          <a:xfrm flipH="1" flipV="1">
            <a:off x="5992592" y="2788064"/>
            <a:ext cx="129534" cy="164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8B08006-84CC-44D2-8AD4-9A644D45E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3652008"/>
            <a:ext cx="3378232" cy="233327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BFBA23-9C61-3348-0EF2-71241D80678A}"/>
              </a:ext>
            </a:extLst>
          </p:cNvPr>
          <p:cNvCxnSpPr/>
          <p:nvPr/>
        </p:nvCxnSpPr>
        <p:spPr>
          <a:xfrm>
            <a:off x="3941900" y="4730027"/>
            <a:ext cx="1017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44C944-BB24-194C-E492-192EFB018203}"/>
              </a:ext>
            </a:extLst>
          </p:cNvPr>
          <p:cNvSpPr txBox="1"/>
          <p:nvPr/>
        </p:nvSpPr>
        <p:spPr>
          <a:xfrm>
            <a:off x="7082078" y="3337024"/>
            <a:ext cx="2221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T, SOC</a:t>
            </a:r>
            <a:r>
              <a:rPr lang="ko-KR" altLang="en-US" sz="1400" dirty="0"/>
              <a:t>에 따라 </a:t>
            </a:r>
            <a:r>
              <a:rPr lang="en-US" altLang="ko-KR" sz="1400" dirty="0"/>
              <a:t>SOE </a:t>
            </a:r>
            <a:r>
              <a:rPr lang="ko-KR" altLang="en-US" sz="1400" dirty="0"/>
              <a:t>변한다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C867A17-B705-912B-5852-A773E7B0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379" y="3796858"/>
            <a:ext cx="3012561" cy="21016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2255382-FA37-D16B-3E40-5621C9494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70" y="3764572"/>
            <a:ext cx="2921468" cy="21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5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State of energy estimation of batteries w/ neural network model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[2]</a:t>
            </a:r>
            <a:endParaRPr lang="ko-KR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State-space model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Augmented State-space model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Dong,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Guangzhong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"A method for state of energy estimation of lithium-ion batteries based on neural network model."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90 (2015): 879-888.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8</a:t>
            </a:fld>
            <a:endParaRPr lang="en-KR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8B214F5-6224-A599-D726-592FD01CEB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F3A8A73-06B1-731F-73C4-9736F6AE5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268" y="1711722"/>
            <a:ext cx="4757449" cy="91167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49ABFB7-4DB8-B1D6-826A-48D3091A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15" y="3694520"/>
            <a:ext cx="4429743" cy="149563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01AE7B2-C8F9-D799-9C08-D4DC2B1B4C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41923" b="-19376"/>
          <a:stretch/>
        </p:blipFill>
        <p:spPr>
          <a:xfrm>
            <a:off x="2047097" y="1883253"/>
            <a:ext cx="2567160" cy="56860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4CA1D04-8417-7FA7-2C47-E9B58F187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303" y="3751601"/>
            <a:ext cx="4096322" cy="221703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6859E23-8473-9B50-EDB0-458D4ACD4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303" y="3255143"/>
            <a:ext cx="426779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9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060F1-694A-0A73-B600-6FB47CB9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IFAC2026 Benchmark Challenge: Thermal Management Strategy Design for Electric Vehicles under Connectivity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BDEFAA-7AAA-7379-BF2F-D28DFF3D47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EABE30-BC8A-1AB0-9DD0-C17325D8F9E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9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1B0328-4FA5-8606-2422-D503280ADE9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B99567-D60C-C6D0-7406-79B2B2FBF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67" y="1861343"/>
            <a:ext cx="6487351" cy="393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1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31069</TotalTime>
  <Words>517</Words>
  <Application>Microsoft Office PowerPoint</Application>
  <PresentationFormat>와이드스크린</PresentationFormat>
  <Paragraphs>98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NanumBarunGothic</vt:lpstr>
      <vt:lpstr>나눔바른고딕</vt:lpstr>
      <vt:lpstr>Arial</vt:lpstr>
      <vt:lpstr>Times New Roman</vt:lpstr>
      <vt:lpstr>Wingdings</vt:lpstr>
      <vt:lpstr>Office Theme</vt:lpstr>
      <vt:lpstr>PowerPoint 프레젠테이션</vt:lpstr>
      <vt:lpstr>Powertrain Components for HEV [1]</vt:lpstr>
      <vt:lpstr>Powertrain Components for HEV [1]</vt:lpstr>
      <vt:lpstr>Powertrain Components for HEV [1]</vt:lpstr>
      <vt:lpstr>Powertrain Components for HEV [1]</vt:lpstr>
      <vt:lpstr>Powertrain Components for HEV [1]</vt:lpstr>
      <vt:lpstr>State of energy estimation of batteries w/ neural network model [2]</vt:lpstr>
      <vt:lpstr>State of energy estimation of batteries w/ neural network model [2]</vt:lpstr>
      <vt:lpstr>IFAC2026 Benchmark Challenge: Thermal Management Strategy Design for Electric Vehicles under Connectivity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띵</dc:creator>
  <cp:lastModifiedBy>Seunghun Jang</cp:lastModifiedBy>
  <cp:revision>307</cp:revision>
  <dcterms:created xsi:type="dcterms:W3CDTF">2024-10-18T07:32:01Z</dcterms:created>
  <dcterms:modified xsi:type="dcterms:W3CDTF">2025-07-31T00:53:25Z</dcterms:modified>
</cp:coreProperties>
</file>